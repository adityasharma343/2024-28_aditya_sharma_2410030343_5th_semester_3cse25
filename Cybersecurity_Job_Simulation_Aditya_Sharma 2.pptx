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5669280" y="502920"/>
            <a:ext cx="3291840" cy="3291840"/>
          </a:xfrm>
          <a:prstGeom prst="ellipse">
            <a:avLst/>
          </a:prstGeom>
          <a:solidFill>
            <a:srgbClr val="EB001B"/>
          </a:solidFill>
          <a:ln w="12700">
            <a:solidFill>
              <a:srgbClr val="EB001B"/>
            </a:solidFill>
            <a:prstDash val="solid"/>
          </a:ln>
        </p:spPr>
      </p:sp>
      <p:sp>
        <p:nvSpPr>
          <p:cNvPr id="3" name="Shape 1"/>
          <p:cNvSpPr/>
          <p:nvPr/>
        </p:nvSpPr>
        <p:spPr>
          <a:xfrm>
            <a:off x="7315200" y="2468880"/>
            <a:ext cx="2194560" cy="2194560"/>
          </a:xfrm>
          <a:prstGeom prst="ellipse">
            <a:avLst/>
          </a:prstGeom>
          <a:solidFill>
            <a:srgbClr val="F79E1B">
              <a:alpha val="85000"/>
            </a:srgbClr>
          </a:solidFill>
          <a:ln w="12700">
            <a:solidFill>
              <a:srgbClr val="F79E1B"/>
            </a:solidFill>
            <a:prstDash val="solid"/>
          </a:ln>
        </p:spPr>
      </p:sp>
      <p:sp>
        <p:nvSpPr>
          <p:cNvPr id="4" name="Shape 2"/>
          <p:cNvSpPr/>
          <p:nvPr/>
        </p:nvSpPr>
        <p:spPr>
          <a:xfrm>
            <a:off x="457200" y="365760"/>
            <a:ext cx="502920" cy="548640"/>
          </a:xfrm>
          <a:prstGeom prst="roundRect">
            <a:avLst>
              <a:gd name="adj" fmla="val 10909"/>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502920" y="402336"/>
            <a:ext cx="411480" cy="438634"/>
          </a:xfrm>
          <a:prstGeom prst="rect">
            <a:avLst/>
          </a:prstGeom>
        </p:spPr>
      </p:pic>
      <p:sp>
        <p:nvSpPr>
          <p:cNvPr id="6" name="Text 3"/>
          <p:cNvSpPr txBox="1"/>
          <p:nvPr/>
        </p:nvSpPr>
        <p:spPr>
          <a:xfrm>
            <a:off x="1097280" y="457200"/>
            <a:ext cx="4572000" cy="365760"/>
          </a:xfrm>
          <a:prstGeom prst="rect">
            <a:avLst/>
          </a:prstGeom>
          <a:noFill/>
          <a:ln/>
        </p:spPr>
        <p:txBody>
          <a:bodyPr wrap="square" lIns="0" tIns="0" rIns="0" bIns="0" rtlCol="0" anchor="ctr"/>
          <a:lstStyle/>
          <a:p>
            <a:pPr indent="0" marL="0">
              <a:buNone/>
            </a:pPr>
            <a:r>
              <a:rPr lang="en-US" sz="1100" b="1" spc="300" kern="0" dirty="0">
                <a:solidFill>
                  <a:srgbClr val="D8D8E2"/>
                </a:solidFill>
                <a:latin typeface="Calibri" pitchFamily="34" charset="0"/>
                <a:ea typeface="Calibri" pitchFamily="34" charset="-122"/>
                <a:cs typeface="Calibri" pitchFamily="34" charset="-120"/>
              </a:rPr>
              <a:t>IILM UNIVERSITY, GREATER NOIDA</a:t>
            </a:r>
            <a:endParaRPr lang="en-US" sz="1100" dirty="0"/>
          </a:p>
        </p:txBody>
      </p:sp>
      <p:sp>
        <p:nvSpPr>
          <p:cNvPr id="7" name="Text 4"/>
          <p:cNvSpPr txBox="1"/>
          <p:nvPr/>
        </p:nvSpPr>
        <p:spPr>
          <a:xfrm>
            <a:off x="457200" y="1600200"/>
            <a:ext cx="5486400" cy="274320"/>
          </a:xfrm>
          <a:prstGeom prst="rect">
            <a:avLst/>
          </a:prstGeom>
          <a:noFill/>
          <a:ln/>
        </p:spPr>
        <p:txBody>
          <a:bodyPr wrap="square" lIns="0" tIns="0" rIns="0" bIns="0" rtlCol="0" anchor="ctr"/>
          <a:lstStyle/>
          <a:p>
            <a:pPr indent="0" marL="0">
              <a:buNone/>
            </a:pPr>
            <a:r>
              <a:rPr lang="en-US" sz="1100" b="1" spc="400" kern="0" dirty="0">
                <a:solidFill>
                  <a:srgbClr val="F79E1B"/>
                </a:solidFill>
                <a:latin typeface="Calibri" pitchFamily="34" charset="0"/>
                <a:ea typeface="Calibri" pitchFamily="34" charset="-122"/>
                <a:cs typeface="Calibri" pitchFamily="34" charset="-120"/>
              </a:rPr>
              <a:t>INTERNSHIP REPORT PRESENTATION</a:t>
            </a:r>
            <a:endParaRPr lang="en-US" sz="1100" dirty="0"/>
          </a:p>
        </p:txBody>
      </p:sp>
      <p:sp>
        <p:nvSpPr>
          <p:cNvPr id="8" name="Text 5"/>
          <p:cNvSpPr txBox="1"/>
          <p:nvPr/>
        </p:nvSpPr>
        <p:spPr>
          <a:xfrm>
            <a:off x="457200" y="1874520"/>
            <a:ext cx="5486400"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Cybersecurity</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Job Simulation</a:t>
            </a:r>
            <a:endParaRPr lang="en-US" sz="4000" dirty="0"/>
          </a:p>
        </p:txBody>
      </p:sp>
      <p:sp>
        <p:nvSpPr>
          <p:cNvPr id="9" name="Text 6"/>
          <p:cNvSpPr txBox="1"/>
          <p:nvPr/>
        </p:nvSpPr>
        <p:spPr>
          <a:xfrm>
            <a:off x="457200" y="3200400"/>
            <a:ext cx="5486400" cy="320040"/>
          </a:xfrm>
          <a:prstGeom prst="rect">
            <a:avLst/>
          </a:prstGeom>
          <a:noFill/>
          <a:ln/>
        </p:spPr>
        <p:txBody>
          <a:bodyPr wrap="square" lIns="0" tIns="0" rIns="0" bIns="0" rtlCol="0" anchor="ctr"/>
          <a:lstStyle/>
          <a:p>
            <a:pPr indent="0" marL="0">
              <a:buNone/>
            </a:pPr>
            <a:r>
              <a:rPr lang="en-US" sz="1600" dirty="0">
                <a:solidFill>
                  <a:srgbClr val="D8D8E2"/>
                </a:solidFill>
                <a:latin typeface="Calibri" pitchFamily="34" charset="0"/>
                <a:ea typeface="Calibri" pitchFamily="34" charset="-122"/>
                <a:cs typeface="Calibri" pitchFamily="34" charset="-120"/>
              </a:rPr>
              <a:t>Mastercard  |  Hosted on Forage</a:t>
            </a:r>
            <a:endParaRPr lang="en-US" sz="1600" dirty="0"/>
          </a:p>
        </p:txBody>
      </p:sp>
      <p:sp>
        <p:nvSpPr>
          <p:cNvPr id="10" name="Text 7"/>
          <p:cNvSpPr txBox="1"/>
          <p:nvPr/>
        </p:nvSpPr>
        <p:spPr>
          <a:xfrm>
            <a:off x="457200" y="3931920"/>
            <a:ext cx="54864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Aditya Sharma</a:t>
            </a:r>
            <a:endParaRPr lang="en-US" sz="1600" dirty="0"/>
          </a:p>
        </p:txBody>
      </p:sp>
      <p:sp>
        <p:nvSpPr>
          <p:cNvPr id="11" name="Text 8"/>
          <p:cNvSpPr txBox="1"/>
          <p:nvPr/>
        </p:nvSpPr>
        <p:spPr>
          <a:xfrm>
            <a:off x="457200" y="4251960"/>
            <a:ext cx="5486400" cy="274320"/>
          </a:xfrm>
          <a:prstGeom prst="rect">
            <a:avLst/>
          </a:prstGeom>
          <a:noFill/>
          <a:ln/>
        </p:spPr>
        <p:txBody>
          <a:bodyPr wrap="square" lIns="0" tIns="0" rIns="0" bIns="0" rtlCol="0" anchor="ctr"/>
          <a:lstStyle/>
          <a:p>
            <a:pPr indent="0" marL="0">
              <a:buNone/>
            </a:pPr>
            <a:r>
              <a:rPr lang="en-US" sz="1200" dirty="0">
                <a:solidFill>
                  <a:srgbClr val="B8B8C8"/>
                </a:solidFill>
                <a:latin typeface="Calibri" pitchFamily="34" charset="0"/>
                <a:ea typeface="Calibri" pitchFamily="34" charset="-122"/>
                <a:cs typeface="Calibri" pitchFamily="34" charset="-120"/>
              </a:rPr>
              <a:t>Roll No. 2410030343  |  B.Tech CSE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16161D"/>
          </a:solidFill>
          <a:ln w="12700">
            <a:solidFill>
              <a:srgbClr val="16161D"/>
            </a:solidFill>
            <a:prstDash val="solid"/>
          </a:ln>
        </p:spPr>
      </p:sp>
      <p:sp>
        <p:nvSpPr>
          <p:cNvPr id="3" name="Shape 1"/>
          <p:cNvSpPr/>
          <p:nvPr/>
        </p:nvSpPr>
        <p:spPr>
          <a:xfrm>
            <a:off x="1097280" y="1097280"/>
            <a:ext cx="914400" cy="914400"/>
          </a:xfrm>
          <a:prstGeom prst="ellipse">
            <a:avLst/>
          </a:prstGeom>
          <a:solidFill>
            <a:srgbClr val="22222C"/>
          </a:solidFill>
          <a:ln w="12700">
            <a:solidFill>
              <a:srgbClr val="22222C"/>
            </a:solidFill>
            <a:prstDash val="solid"/>
          </a:ln>
        </p:spPr>
      </p:sp>
      <p:pic>
        <p:nvPicPr>
          <p:cNvPr id="4" name="Image 0" descr="preencoded.png">    </p:cNvPr>
          <p:cNvPicPr>
            <a:picLocks noChangeAspect="1"/>
          </p:cNvPicPr>
          <p:nvPr/>
        </p:nvPicPr>
        <p:blipFill>
          <a:blip r:embed="rId1"/>
          <a:stretch>
            <a:fillRect/>
          </a:stretch>
        </p:blipFill>
        <p:spPr>
          <a:xfrm>
            <a:off x="1325880" y="1325880"/>
            <a:ext cx="457200" cy="457200"/>
          </a:xfrm>
          <a:prstGeom prst="rect">
            <a:avLst/>
          </a:prstGeom>
        </p:spPr>
      </p:pic>
      <p:sp>
        <p:nvSpPr>
          <p:cNvPr id="5" name="Text 2"/>
          <p:cNvSpPr txBox="1"/>
          <p:nvPr/>
        </p:nvSpPr>
        <p:spPr>
          <a:xfrm>
            <a:off x="274320" y="2194560"/>
            <a:ext cx="256032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Aditya</a:t>
            </a:r>
            <a:endParaRPr lang="en-US" sz="2800" dirty="0"/>
          </a:p>
          <a:p>
            <a:pPr algn="ctr" indent="0" marL="0">
              <a:buNone/>
            </a:pPr>
            <a:r>
              <a:rPr lang="en-US" sz="2800" b="1" dirty="0">
                <a:solidFill>
                  <a:srgbClr val="FFFFFF"/>
                </a:solidFill>
                <a:latin typeface="Cambria" pitchFamily="34" charset="0"/>
                <a:ea typeface="Cambria" pitchFamily="34" charset="-122"/>
                <a:cs typeface="Cambria" pitchFamily="34" charset="-120"/>
              </a:rPr>
              <a:t>Sharma</a:t>
            </a:r>
            <a:endParaRPr lang="en-US" sz="2800" dirty="0"/>
          </a:p>
        </p:txBody>
      </p:sp>
      <p:sp>
        <p:nvSpPr>
          <p:cNvPr id="6" name="Text 3"/>
          <p:cNvSpPr txBox="1"/>
          <p:nvPr/>
        </p:nvSpPr>
        <p:spPr>
          <a:xfrm>
            <a:off x="274320" y="3200400"/>
            <a:ext cx="2560320" cy="457200"/>
          </a:xfrm>
          <a:prstGeom prst="rect">
            <a:avLst/>
          </a:prstGeom>
          <a:noFill/>
          <a:ln/>
        </p:spPr>
        <p:txBody>
          <a:bodyPr wrap="square" lIns="0" tIns="0" rIns="0" bIns="0" rtlCol="0" anchor="ctr"/>
          <a:lstStyle/>
          <a:p>
            <a:pPr algn="ctr" indent="0" marL="0">
              <a:buNone/>
            </a:pPr>
            <a:r>
              <a:rPr lang="en-US" sz="1200" dirty="0">
                <a:solidFill>
                  <a:srgbClr val="C8C8D6"/>
                </a:solidFill>
                <a:latin typeface="Calibri" pitchFamily="34" charset="0"/>
                <a:ea typeface="Calibri" pitchFamily="34" charset="-122"/>
                <a:cs typeface="Calibri" pitchFamily="34" charset="-120"/>
              </a:rPr>
              <a:t>B.Tech - Computer Science &amp; Engineering</a:t>
            </a:r>
            <a:endParaRPr lang="en-US" sz="1200" dirty="0"/>
          </a:p>
        </p:txBody>
      </p:sp>
      <p:sp>
        <p:nvSpPr>
          <p:cNvPr id="7" name="Text 4"/>
          <p:cNvSpPr txBox="1"/>
          <p:nvPr/>
        </p:nvSpPr>
        <p:spPr>
          <a:xfrm>
            <a:off x="3566160" y="320040"/>
            <a:ext cx="5120640" cy="274320"/>
          </a:xfrm>
          <a:prstGeom prst="rect">
            <a:avLst/>
          </a:prstGeom>
          <a:noFill/>
          <a:ln/>
        </p:spPr>
        <p:txBody>
          <a:bodyPr wrap="square" lIns="0" tIns="0" rIns="0" bIns="0" rtlCol="0" anchor="ctr"/>
          <a:lstStyle/>
          <a:p>
            <a:pPr indent="0" marL="0">
              <a:buNone/>
            </a:pPr>
            <a:r>
              <a:rPr lang="en-US" sz="1100" b="1" spc="400" kern="0" dirty="0">
                <a:solidFill>
                  <a:srgbClr val="EB001B"/>
                </a:solidFill>
                <a:latin typeface="Calibri" pitchFamily="34" charset="0"/>
                <a:ea typeface="Calibri" pitchFamily="34" charset="-122"/>
                <a:cs typeface="Calibri" pitchFamily="34" charset="-120"/>
              </a:rPr>
              <a:t>ABOUT THE STUDENT</a:t>
            </a:r>
            <a:endParaRPr lang="en-US" sz="1100" dirty="0"/>
          </a:p>
        </p:txBody>
      </p:sp>
      <p:sp>
        <p:nvSpPr>
          <p:cNvPr id="8" name="Text 5"/>
          <p:cNvSpPr txBox="1"/>
          <p:nvPr/>
        </p:nvSpPr>
        <p:spPr>
          <a:xfrm>
            <a:off x="3566160" y="594360"/>
            <a:ext cx="5120640" cy="548640"/>
          </a:xfrm>
          <a:prstGeom prst="rect">
            <a:avLst/>
          </a:prstGeom>
          <a:noFill/>
          <a:ln/>
        </p:spPr>
        <p:txBody>
          <a:bodyPr wrap="square" lIns="0" tIns="0" rIns="0" bIns="0" rtlCol="0" anchor="ctr"/>
          <a:lstStyle/>
          <a:p>
            <a:pPr indent="0" marL="0">
              <a:buNone/>
            </a:pPr>
            <a:r>
              <a:rPr lang="en-US" sz="3000" b="1" dirty="0">
                <a:solidFill>
                  <a:srgbClr val="1F2330"/>
                </a:solidFill>
                <a:latin typeface="Cambria" pitchFamily="34" charset="0"/>
                <a:ea typeface="Cambria" pitchFamily="34" charset="-122"/>
                <a:cs typeface="Cambria" pitchFamily="34" charset="-120"/>
              </a:rPr>
              <a:t>Candidate Profile</a:t>
            </a:r>
            <a:endParaRPr lang="en-US" sz="3000" dirty="0"/>
          </a:p>
        </p:txBody>
      </p:sp>
      <p:sp>
        <p:nvSpPr>
          <p:cNvPr id="9" name="Shape 6"/>
          <p:cNvSpPr/>
          <p:nvPr/>
        </p:nvSpPr>
        <p:spPr>
          <a:xfrm>
            <a:off x="3566160" y="1371600"/>
            <a:ext cx="457200" cy="457200"/>
          </a:xfrm>
          <a:prstGeom prst="ellipse">
            <a:avLst/>
          </a:prstGeom>
          <a:solidFill>
            <a:srgbClr val="FDE7EA"/>
          </a:solidFill>
          <a:ln w="12700">
            <a:solidFill>
              <a:srgbClr val="FDE7EA"/>
            </a:solidFill>
            <a:prstDash val="solid"/>
          </a:ln>
        </p:spPr>
      </p:sp>
      <p:pic>
        <p:nvPicPr>
          <p:cNvPr id="10" name="Image 1" descr="preencoded.png">    </p:cNvPr>
          <p:cNvPicPr>
            <a:picLocks noChangeAspect="1"/>
          </p:cNvPicPr>
          <p:nvPr/>
        </p:nvPicPr>
        <p:blipFill>
          <a:blip r:embed="rId2"/>
          <a:stretch>
            <a:fillRect/>
          </a:stretch>
        </p:blipFill>
        <p:spPr>
          <a:xfrm>
            <a:off x="3680460" y="1485900"/>
            <a:ext cx="228600" cy="228600"/>
          </a:xfrm>
          <a:prstGeom prst="rect">
            <a:avLst/>
          </a:prstGeom>
        </p:spPr>
      </p:pic>
      <p:sp>
        <p:nvSpPr>
          <p:cNvPr id="11" name="Text 7"/>
          <p:cNvSpPr txBox="1"/>
          <p:nvPr/>
        </p:nvSpPr>
        <p:spPr>
          <a:xfrm>
            <a:off x="4206240" y="1353312"/>
            <a:ext cx="4389120" cy="201168"/>
          </a:xfrm>
          <a:prstGeom prst="rect">
            <a:avLst/>
          </a:prstGeom>
          <a:noFill/>
          <a:ln/>
        </p:spPr>
        <p:txBody>
          <a:bodyPr wrap="square" lIns="0" tIns="0" rIns="0" bIns="0" rtlCol="0" anchor="ctr"/>
          <a:lstStyle/>
          <a:p>
            <a:pPr indent="0" marL="0">
              <a:buNone/>
            </a:pPr>
            <a:r>
              <a:rPr lang="en-US" sz="1000" b="1" dirty="0">
                <a:solidFill>
                  <a:srgbClr val="5B6070"/>
                </a:solidFill>
                <a:latin typeface="Calibri" pitchFamily="34" charset="0"/>
                <a:ea typeface="Calibri" pitchFamily="34" charset="-122"/>
                <a:cs typeface="Calibri" pitchFamily="34" charset="-120"/>
              </a:rPr>
              <a:t>Roll Number</a:t>
            </a:r>
            <a:endParaRPr lang="en-US" sz="1000" dirty="0"/>
          </a:p>
        </p:txBody>
      </p:sp>
      <p:sp>
        <p:nvSpPr>
          <p:cNvPr id="12" name="Text 8"/>
          <p:cNvSpPr txBox="1"/>
          <p:nvPr/>
        </p:nvSpPr>
        <p:spPr>
          <a:xfrm>
            <a:off x="4206240" y="1554480"/>
            <a:ext cx="4480560" cy="292608"/>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2410030343</a:t>
            </a:r>
            <a:endParaRPr lang="en-US" sz="1500" dirty="0"/>
          </a:p>
        </p:txBody>
      </p:sp>
      <p:sp>
        <p:nvSpPr>
          <p:cNvPr id="13" name="Shape 9"/>
          <p:cNvSpPr/>
          <p:nvPr/>
        </p:nvSpPr>
        <p:spPr>
          <a:xfrm>
            <a:off x="3566160" y="2011680"/>
            <a:ext cx="457200" cy="457200"/>
          </a:xfrm>
          <a:prstGeom prst="ellipse">
            <a:avLst/>
          </a:prstGeom>
          <a:solidFill>
            <a:srgbClr val="FDE7EA"/>
          </a:solidFill>
          <a:ln w="12700">
            <a:solidFill>
              <a:srgbClr val="FDE7EA"/>
            </a:solidFill>
            <a:prstDash val="solid"/>
          </a:ln>
        </p:spPr>
      </p:sp>
      <p:pic>
        <p:nvPicPr>
          <p:cNvPr id="14" name="Image 2" descr="preencoded.png">    </p:cNvPr>
          <p:cNvPicPr>
            <a:picLocks noChangeAspect="1"/>
          </p:cNvPicPr>
          <p:nvPr/>
        </p:nvPicPr>
        <p:blipFill>
          <a:blip r:embed="rId3"/>
          <a:stretch>
            <a:fillRect/>
          </a:stretch>
        </p:blipFill>
        <p:spPr>
          <a:xfrm>
            <a:off x="3680460" y="2125980"/>
            <a:ext cx="228600" cy="228600"/>
          </a:xfrm>
          <a:prstGeom prst="rect">
            <a:avLst/>
          </a:prstGeom>
        </p:spPr>
      </p:pic>
      <p:sp>
        <p:nvSpPr>
          <p:cNvPr id="15" name="Text 10"/>
          <p:cNvSpPr txBox="1"/>
          <p:nvPr/>
        </p:nvSpPr>
        <p:spPr>
          <a:xfrm>
            <a:off x="4206240" y="1993392"/>
            <a:ext cx="4389120" cy="201168"/>
          </a:xfrm>
          <a:prstGeom prst="rect">
            <a:avLst/>
          </a:prstGeom>
          <a:noFill/>
          <a:ln/>
        </p:spPr>
        <p:txBody>
          <a:bodyPr wrap="square" lIns="0" tIns="0" rIns="0" bIns="0" rtlCol="0" anchor="ctr"/>
          <a:lstStyle/>
          <a:p>
            <a:pPr indent="0" marL="0">
              <a:buNone/>
            </a:pPr>
            <a:r>
              <a:rPr lang="en-US" sz="1000" b="1" dirty="0">
                <a:solidFill>
                  <a:srgbClr val="5B6070"/>
                </a:solidFill>
                <a:latin typeface="Calibri" pitchFamily="34" charset="0"/>
                <a:ea typeface="Calibri" pitchFamily="34" charset="-122"/>
                <a:cs typeface="Calibri" pitchFamily="34" charset="-120"/>
              </a:rPr>
              <a:t>Institute</a:t>
            </a:r>
            <a:endParaRPr lang="en-US" sz="1000" dirty="0"/>
          </a:p>
        </p:txBody>
      </p:sp>
      <p:sp>
        <p:nvSpPr>
          <p:cNvPr id="16" name="Text 11"/>
          <p:cNvSpPr txBox="1"/>
          <p:nvPr/>
        </p:nvSpPr>
        <p:spPr>
          <a:xfrm>
            <a:off x="4206240" y="2194560"/>
            <a:ext cx="4480560" cy="292608"/>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IILM University, Greater Noida, U.P.</a:t>
            </a:r>
            <a:endParaRPr lang="en-US" sz="1500" dirty="0"/>
          </a:p>
        </p:txBody>
      </p:sp>
      <p:sp>
        <p:nvSpPr>
          <p:cNvPr id="17" name="Shape 12"/>
          <p:cNvSpPr/>
          <p:nvPr/>
        </p:nvSpPr>
        <p:spPr>
          <a:xfrm>
            <a:off x="3566160" y="2651760"/>
            <a:ext cx="457200" cy="457200"/>
          </a:xfrm>
          <a:prstGeom prst="ellipse">
            <a:avLst/>
          </a:prstGeom>
          <a:solidFill>
            <a:srgbClr val="FDE7EA"/>
          </a:solidFill>
          <a:ln w="12700">
            <a:solidFill>
              <a:srgbClr val="FDE7EA"/>
            </a:solidFill>
            <a:prstDash val="solid"/>
          </a:ln>
        </p:spPr>
      </p:sp>
      <p:pic>
        <p:nvPicPr>
          <p:cNvPr id="18" name="Image 3" descr="preencoded.png">    </p:cNvPr>
          <p:cNvPicPr>
            <a:picLocks noChangeAspect="1"/>
          </p:cNvPicPr>
          <p:nvPr/>
        </p:nvPicPr>
        <p:blipFill>
          <a:blip r:embed="rId4"/>
          <a:stretch>
            <a:fillRect/>
          </a:stretch>
        </p:blipFill>
        <p:spPr>
          <a:xfrm>
            <a:off x="3680460" y="2766060"/>
            <a:ext cx="228600" cy="228600"/>
          </a:xfrm>
          <a:prstGeom prst="rect">
            <a:avLst/>
          </a:prstGeom>
        </p:spPr>
      </p:pic>
      <p:sp>
        <p:nvSpPr>
          <p:cNvPr id="19" name="Text 13"/>
          <p:cNvSpPr txBox="1"/>
          <p:nvPr/>
        </p:nvSpPr>
        <p:spPr>
          <a:xfrm>
            <a:off x="4206240" y="2633472"/>
            <a:ext cx="4389120" cy="201168"/>
          </a:xfrm>
          <a:prstGeom prst="rect">
            <a:avLst/>
          </a:prstGeom>
          <a:noFill/>
          <a:ln/>
        </p:spPr>
        <p:txBody>
          <a:bodyPr wrap="square" lIns="0" tIns="0" rIns="0" bIns="0" rtlCol="0" anchor="ctr"/>
          <a:lstStyle/>
          <a:p>
            <a:pPr indent="0" marL="0">
              <a:buNone/>
            </a:pPr>
            <a:r>
              <a:rPr lang="en-US" sz="1000" b="1" dirty="0">
                <a:solidFill>
                  <a:srgbClr val="5B6070"/>
                </a:solidFill>
                <a:latin typeface="Calibri" pitchFamily="34" charset="0"/>
                <a:ea typeface="Calibri" pitchFamily="34" charset="-122"/>
                <a:cs typeface="Calibri" pitchFamily="34" charset="-120"/>
              </a:rPr>
              <a:t>Programme</a:t>
            </a:r>
            <a:endParaRPr lang="en-US" sz="1000" dirty="0"/>
          </a:p>
        </p:txBody>
      </p:sp>
      <p:sp>
        <p:nvSpPr>
          <p:cNvPr id="20" name="Text 14"/>
          <p:cNvSpPr txBox="1"/>
          <p:nvPr/>
        </p:nvSpPr>
        <p:spPr>
          <a:xfrm>
            <a:off x="4206240" y="2834640"/>
            <a:ext cx="4480560" cy="292608"/>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B.Tech CSE, Batch 2024-2028</a:t>
            </a:r>
            <a:endParaRPr lang="en-US" sz="1500" dirty="0"/>
          </a:p>
        </p:txBody>
      </p:sp>
      <p:sp>
        <p:nvSpPr>
          <p:cNvPr id="21" name="Shape 15"/>
          <p:cNvSpPr/>
          <p:nvPr/>
        </p:nvSpPr>
        <p:spPr>
          <a:xfrm>
            <a:off x="3566160" y="3291840"/>
            <a:ext cx="457200" cy="457200"/>
          </a:xfrm>
          <a:prstGeom prst="ellipse">
            <a:avLst/>
          </a:prstGeom>
          <a:solidFill>
            <a:srgbClr val="FDE7EA"/>
          </a:solidFill>
          <a:ln w="12700">
            <a:solidFill>
              <a:srgbClr val="FDE7EA"/>
            </a:solidFill>
            <a:prstDash val="solid"/>
          </a:ln>
        </p:spPr>
      </p:sp>
      <p:pic>
        <p:nvPicPr>
          <p:cNvPr id="22" name="Image 4" descr="preencoded.png">    </p:cNvPr>
          <p:cNvPicPr>
            <a:picLocks noChangeAspect="1"/>
          </p:cNvPicPr>
          <p:nvPr/>
        </p:nvPicPr>
        <p:blipFill>
          <a:blip r:embed="rId5"/>
          <a:stretch>
            <a:fillRect/>
          </a:stretch>
        </p:blipFill>
        <p:spPr>
          <a:xfrm>
            <a:off x="3680460" y="3406140"/>
            <a:ext cx="228600" cy="228600"/>
          </a:xfrm>
          <a:prstGeom prst="rect">
            <a:avLst/>
          </a:prstGeom>
        </p:spPr>
      </p:pic>
      <p:sp>
        <p:nvSpPr>
          <p:cNvPr id="23" name="Text 16"/>
          <p:cNvSpPr txBox="1"/>
          <p:nvPr/>
        </p:nvSpPr>
        <p:spPr>
          <a:xfrm>
            <a:off x="4206240" y="3273552"/>
            <a:ext cx="4389120" cy="201168"/>
          </a:xfrm>
          <a:prstGeom prst="rect">
            <a:avLst/>
          </a:prstGeom>
          <a:noFill/>
          <a:ln/>
        </p:spPr>
        <p:txBody>
          <a:bodyPr wrap="square" lIns="0" tIns="0" rIns="0" bIns="0" rtlCol="0" anchor="ctr"/>
          <a:lstStyle/>
          <a:p>
            <a:pPr indent="0" marL="0">
              <a:buNone/>
            </a:pPr>
            <a:r>
              <a:rPr lang="en-US" sz="1000" b="1" dirty="0">
                <a:solidFill>
                  <a:srgbClr val="5B6070"/>
                </a:solidFill>
                <a:latin typeface="Calibri" pitchFamily="34" charset="0"/>
                <a:ea typeface="Calibri" pitchFamily="34" charset="-122"/>
                <a:cs typeface="Calibri" pitchFamily="34" charset="-120"/>
              </a:rPr>
              <a:t>Simulation</a:t>
            </a:r>
            <a:endParaRPr lang="en-US" sz="1000" dirty="0"/>
          </a:p>
        </p:txBody>
      </p:sp>
      <p:sp>
        <p:nvSpPr>
          <p:cNvPr id="24" name="Text 17"/>
          <p:cNvSpPr txBox="1"/>
          <p:nvPr/>
        </p:nvSpPr>
        <p:spPr>
          <a:xfrm>
            <a:off x="4206240" y="3474720"/>
            <a:ext cx="4480560" cy="292608"/>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Mastercard Cybersecurity Job Simulation</a:t>
            </a:r>
            <a:endParaRPr lang="en-US" sz="1500" dirty="0"/>
          </a:p>
        </p:txBody>
      </p:sp>
      <p:sp>
        <p:nvSpPr>
          <p:cNvPr id="25" name="Shape 18"/>
          <p:cNvSpPr/>
          <p:nvPr/>
        </p:nvSpPr>
        <p:spPr>
          <a:xfrm>
            <a:off x="3566160" y="3931920"/>
            <a:ext cx="457200" cy="457200"/>
          </a:xfrm>
          <a:prstGeom prst="ellipse">
            <a:avLst/>
          </a:prstGeom>
          <a:solidFill>
            <a:srgbClr val="FDE7EA"/>
          </a:solidFill>
          <a:ln w="12700">
            <a:solidFill>
              <a:srgbClr val="FDE7EA"/>
            </a:solidFill>
            <a:prstDash val="solid"/>
          </a:ln>
        </p:spPr>
      </p:sp>
      <p:pic>
        <p:nvPicPr>
          <p:cNvPr id="26" name="Image 5" descr="preencoded.png">    </p:cNvPr>
          <p:cNvPicPr>
            <a:picLocks noChangeAspect="1"/>
          </p:cNvPicPr>
          <p:nvPr/>
        </p:nvPicPr>
        <p:blipFill>
          <a:blip r:embed="rId6"/>
          <a:stretch>
            <a:fillRect/>
          </a:stretch>
        </p:blipFill>
        <p:spPr>
          <a:xfrm>
            <a:off x="3680460" y="4046220"/>
            <a:ext cx="228600" cy="228600"/>
          </a:xfrm>
          <a:prstGeom prst="rect">
            <a:avLst/>
          </a:prstGeom>
        </p:spPr>
      </p:pic>
      <p:sp>
        <p:nvSpPr>
          <p:cNvPr id="27" name="Text 19"/>
          <p:cNvSpPr txBox="1"/>
          <p:nvPr/>
        </p:nvSpPr>
        <p:spPr>
          <a:xfrm>
            <a:off x="4206240" y="3913632"/>
            <a:ext cx="4389120" cy="201168"/>
          </a:xfrm>
          <a:prstGeom prst="rect">
            <a:avLst/>
          </a:prstGeom>
          <a:noFill/>
          <a:ln/>
        </p:spPr>
        <p:txBody>
          <a:bodyPr wrap="square" lIns="0" tIns="0" rIns="0" bIns="0" rtlCol="0" anchor="ctr"/>
          <a:lstStyle/>
          <a:p>
            <a:pPr indent="0" marL="0">
              <a:buNone/>
            </a:pPr>
            <a:r>
              <a:rPr lang="en-US" sz="1000" b="1" dirty="0">
                <a:solidFill>
                  <a:srgbClr val="5B6070"/>
                </a:solidFill>
                <a:latin typeface="Calibri" pitchFamily="34" charset="0"/>
                <a:ea typeface="Calibri" pitchFamily="34" charset="-122"/>
                <a:cs typeface="Calibri" pitchFamily="34" charset="-120"/>
              </a:rPr>
              <a:t>Duration</a:t>
            </a:r>
            <a:endParaRPr lang="en-US" sz="1000" dirty="0"/>
          </a:p>
        </p:txBody>
      </p:sp>
      <p:sp>
        <p:nvSpPr>
          <p:cNvPr id="28" name="Text 20"/>
          <p:cNvSpPr txBox="1"/>
          <p:nvPr/>
        </p:nvSpPr>
        <p:spPr>
          <a:xfrm>
            <a:off x="4206240" y="4114800"/>
            <a:ext cx="4480560" cy="292608"/>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September 2026  |  Self-paced, virtual</a:t>
            </a:r>
            <a:endParaRPr lang="en-US" sz="1500" dirty="0"/>
          </a:p>
        </p:txBody>
      </p:sp>
      <p:sp>
        <p:nvSpPr>
          <p:cNvPr id="29" name="Text 2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5B6070"/>
                </a:solidFill>
                <a:latin typeface="Calibri" pitchFamily="34" charset="0"/>
                <a:ea typeface="Calibri" pitchFamily="34" charset="-122"/>
                <a:cs typeface="Calibri" pitchFamily="34" charset="-120"/>
              </a:rPr>
              <a:t>Cybersecurity Job Simulation  |  Aditya Sharma</a:t>
            </a:r>
            <a:endParaRPr lang="en-US" sz="900" dirty="0"/>
          </a:p>
        </p:txBody>
      </p:sp>
      <p:sp>
        <p:nvSpPr>
          <p:cNvPr id="30" name="Text 22"/>
          <p:cNvSpPr txBox="1"/>
          <p:nvPr/>
        </p:nvSpPr>
        <p:spPr>
          <a:xfrm>
            <a:off x="8138160" y="4754880"/>
            <a:ext cx="548640" cy="228600"/>
          </a:xfrm>
          <a:prstGeom prst="rect">
            <a:avLst/>
          </a:prstGeom>
          <a:noFill/>
          <a:ln/>
        </p:spPr>
        <p:txBody>
          <a:bodyPr wrap="square" lIns="0" tIns="0" rIns="0" bIns="0" rtlCol="0" anchor="ctr"/>
          <a:lstStyle/>
          <a:p>
            <a:pPr algn="r" indent="0" marL="0">
              <a:buNone/>
            </a:pPr>
            <a:r>
              <a:rPr lang="en-US" sz="900" dirty="0">
                <a:solidFill>
                  <a:srgbClr val="5B6070"/>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7"/>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400" kern="0" dirty="0">
                <a:solidFill>
                  <a:srgbClr val="EB001B"/>
                </a:solidFill>
                <a:latin typeface="Calibri" pitchFamily="34" charset="0"/>
                <a:ea typeface="Calibri" pitchFamily="34" charset="-122"/>
                <a:cs typeface="Calibri" pitchFamily="34" charset="-120"/>
              </a:rPr>
              <a:t>ABOUT THE PROGRAM</a:t>
            </a:r>
            <a:endParaRPr lang="en-US" sz="1100" dirty="0"/>
          </a:p>
        </p:txBody>
      </p:sp>
      <p:sp>
        <p:nvSpPr>
          <p:cNvPr id="3" name="Text 1"/>
          <p:cNvSpPr txBox="1"/>
          <p:nvPr/>
        </p:nvSpPr>
        <p:spPr>
          <a:xfrm>
            <a:off x="457200" y="594360"/>
            <a:ext cx="8229600" cy="640080"/>
          </a:xfrm>
          <a:prstGeom prst="rect">
            <a:avLst/>
          </a:prstGeom>
          <a:noFill/>
          <a:ln/>
        </p:spPr>
        <p:txBody>
          <a:bodyPr wrap="square" lIns="0" tIns="0" rIns="0" bIns="0" rtlCol="0" anchor="ctr"/>
          <a:lstStyle/>
          <a:p>
            <a:pPr indent="0" marL="0">
              <a:buNone/>
            </a:pPr>
            <a:r>
              <a:rPr lang="en-US" sz="3000" b="1" dirty="0">
                <a:solidFill>
                  <a:srgbClr val="1F2330"/>
                </a:solidFill>
                <a:latin typeface="Cambria" pitchFamily="34" charset="0"/>
                <a:ea typeface="Cambria" pitchFamily="34" charset="-122"/>
                <a:cs typeface="Cambria" pitchFamily="34" charset="-120"/>
              </a:rPr>
              <a:t>Mastercard, Forage &amp; Job Simulations</a:t>
            </a:r>
            <a:endParaRPr lang="en-US" sz="3000" dirty="0"/>
          </a:p>
        </p:txBody>
      </p:sp>
      <p:sp>
        <p:nvSpPr>
          <p:cNvPr id="4" name="Text 2"/>
          <p:cNvSpPr txBox="1"/>
          <p:nvPr/>
        </p:nvSpPr>
        <p:spPr>
          <a:xfrm>
            <a:off x="457200" y="1371600"/>
            <a:ext cx="8229600" cy="914400"/>
          </a:xfrm>
          <a:prstGeom prst="rect">
            <a:avLst/>
          </a:prstGeom>
          <a:noFill/>
          <a:ln/>
        </p:spPr>
        <p:txBody>
          <a:bodyPr wrap="square" lIns="0" tIns="0" rIns="0" bIns="0" rtlCol="0" anchor="t"/>
          <a:lstStyle/>
          <a:p>
            <a:pPr indent="0" marL="0">
              <a:buNone/>
            </a:pPr>
            <a:r>
              <a:rPr lang="en-US" sz="1400" dirty="0">
                <a:solidFill>
                  <a:srgbClr val="1F2330"/>
                </a:solidFill>
                <a:latin typeface="Calibri" pitchFamily="34" charset="0"/>
                <a:ea typeface="Calibri" pitchFamily="34" charset="-122"/>
                <a:cs typeface="Calibri" pitchFamily="34" charset="-120"/>
              </a:rPr>
              <a:t>Forage hosts free, self-paced virtual work-experience programmes, called job simulations, built with leading employers. In the Mastercard Cybersecurity Job Simulation, participants complete practical tasks modelled on the work of a corporate security team and receive a Certificate of Completion from Forage.</a:t>
            </a:r>
            <a:endParaRPr lang="en-US" sz="1400" dirty="0"/>
          </a:p>
        </p:txBody>
      </p:sp>
      <p:sp>
        <p:nvSpPr>
          <p:cNvPr id="5" name="Shape 3"/>
          <p:cNvSpPr/>
          <p:nvPr/>
        </p:nvSpPr>
        <p:spPr>
          <a:xfrm>
            <a:off x="457200" y="2514600"/>
            <a:ext cx="2560320" cy="1965960"/>
          </a:xfrm>
          <a:prstGeom prst="roundRect">
            <a:avLst>
              <a:gd name="adj" fmla="val 3721"/>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1417320" y="2697480"/>
            <a:ext cx="640080" cy="640080"/>
          </a:xfrm>
          <a:prstGeom prst="ellipse">
            <a:avLst/>
          </a:prstGeom>
          <a:solidFill>
            <a:srgbClr val="FDE7EA"/>
          </a:solidFill>
          <a:ln w="12700">
            <a:solidFill>
              <a:srgbClr val="FDE7EA"/>
            </a:solidFill>
            <a:prstDash val="solid"/>
          </a:ln>
        </p:spPr>
      </p:sp>
      <p:pic>
        <p:nvPicPr>
          <p:cNvPr id="7" name="Image 0" descr="preencoded.png">    </p:cNvPr>
          <p:cNvPicPr>
            <a:picLocks noChangeAspect="1"/>
          </p:cNvPicPr>
          <p:nvPr/>
        </p:nvPicPr>
        <p:blipFill>
          <a:blip r:embed="rId1"/>
          <a:stretch>
            <a:fillRect/>
          </a:stretch>
        </p:blipFill>
        <p:spPr>
          <a:xfrm>
            <a:off x="1577340" y="2857500"/>
            <a:ext cx="320040" cy="320040"/>
          </a:xfrm>
          <a:prstGeom prst="rect">
            <a:avLst/>
          </a:prstGeom>
        </p:spPr>
      </p:pic>
      <p:sp>
        <p:nvSpPr>
          <p:cNvPr id="8" name="Text 5"/>
          <p:cNvSpPr txBox="1"/>
          <p:nvPr/>
        </p:nvSpPr>
        <p:spPr>
          <a:xfrm>
            <a:off x="594360" y="3429000"/>
            <a:ext cx="2286000" cy="320040"/>
          </a:xfrm>
          <a:prstGeom prst="rect">
            <a:avLst/>
          </a:prstGeom>
          <a:noFill/>
          <a:ln/>
        </p:spPr>
        <p:txBody>
          <a:bodyPr wrap="square" lIns="0" tIns="0" rIns="0" bIns="0" rtlCol="0" anchor="ctr"/>
          <a:lstStyle/>
          <a:p>
            <a:pPr algn="ctr" indent="0" marL="0">
              <a:buNone/>
            </a:pPr>
            <a:r>
              <a:rPr lang="en-US" sz="1600" b="1" dirty="0">
                <a:solidFill>
                  <a:srgbClr val="1F2330"/>
                </a:solidFill>
                <a:latin typeface="Cambria" pitchFamily="34" charset="0"/>
                <a:ea typeface="Cambria" pitchFamily="34" charset="-122"/>
                <a:cs typeface="Cambria" pitchFamily="34" charset="-120"/>
              </a:rPr>
              <a:t>Mastercard</a:t>
            </a:r>
            <a:endParaRPr lang="en-US" sz="1600" dirty="0"/>
          </a:p>
        </p:txBody>
      </p:sp>
      <p:sp>
        <p:nvSpPr>
          <p:cNvPr id="9" name="Text 6"/>
          <p:cNvSpPr txBox="1"/>
          <p:nvPr/>
        </p:nvSpPr>
        <p:spPr>
          <a:xfrm>
            <a:off x="640080" y="3767328"/>
            <a:ext cx="2194560" cy="640080"/>
          </a:xfrm>
          <a:prstGeom prst="rect">
            <a:avLst/>
          </a:prstGeom>
          <a:noFill/>
          <a:ln/>
        </p:spPr>
        <p:txBody>
          <a:bodyPr wrap="square" lIns="0" tIns="0" rIns="0" bIns="0" rtlCol="0" anchor="t"/>
          <a:lstStyle/>
          <a:p>
            <a:pPr algn="ctr" indent="0" marL="0">
              <a:buNone/>
            </a:pPr>
            <a:r>
              <a:rPr lang="en-US" sz="1100" dirty="0">
                <a:solidFill>
                  <a:srgbClr val="5B6070"/>
                </a:solidFill>
                <a:latin typeface="Calibri" pitchFamily="34" charset="0"/>
                <a:ea typeface="Calibri" pitchFamily="34" charset="-122"/>
                <a:cs typeface="Calibri" pitchFamily="34" charset="-120"/>
              </a:rPr>
              <a:t>Global payments technology company with security awareness at the core of its work.</a:t>
            </a:r>
            <a:endParaRPr lang="en-US" sz="1100" dirty="0"/>
          </a:p>
        </p:txBody>
      </p:sp>
      <p:sp>
        <p:nvSpPr>
          <p:cNvPr id="10" name="Shape 7"/>
          <p:cNvSpPr/>
          <p:nvPr/>
        </p:nvSpPr>
        <p:spPr>
          <a:xfrm>
            <a:off x="3291840" y="2514600"/>
            <a:ext cx="2560320" cy="1965960"/>
          </a:xfrm>
          <a:prstGeom prst="roundRect">
            <a:avLst>
              <a:gd name="adj" fmla="val 3721"/>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251960" y="2697480"/>
            <a:ext cx="640080" cy="640080"/>
          </a:xfrm>
          <a:prstGeom prst="ellipse">
            <a:avLst/>
          </a:prstGeom>
          <a:solidFill>
            <a:srgbClr val="FDE7EA"/>
          </a:solidFill>
          <a:ln w="12700">
            <a:solidFill>
              <a:srgbClr val="FDE7EA"/>
            </a:solidFill>
            <a:prstDash val="solid"/>
          </a:ln>
        </p:spPr>
      </p:sp>
      <p:pic>
        <p:nvPicPr>
          <p:cNvPr id="12" name="Image 1" descr="preencoded.png">    </p:cNvPr>
          <p:cNvPicPr>
            <a:picLocks noChangeAspect="1"/>
          </p:cNvPicPr>
          <p:nvPr/>
        </p:nvPicPr>
        <p:blipFill>
          <a:blip r:embed="rId2"/>
          <a:stretch>
            <a:fillRect/>
          </a:stretch>
        </p:blipFill>
        <p:spPr>
          <a:xfrm>
            <a:off x="4411980" y="2857500"/>
            <a:ext cx="320040" cy="320040"/>
          </a:xfrm>
          <a:prstGeom prst="rect">
            <a:avLst/>
          </a:prstGeom>
        </p:spPr>
      </p:pic>
      <p:sp>
        <p:nvSpPr>
          <p:cNvPr id="13" name="Text 9"/>
          <p:cNvSpPr txBox="1"/>
          <p:nvPr/>
        </p:nvSpPr>
        <p:spPr>
          <a:xfrm>
            <a:off x="3429000" y="3429000"/>
            <a:ext cx="2286000" cy="320040"/>
          </a:xfrm>
          <a:prstGeom prst="rect">
            <a:avLst/>
          </a:prstGeom>
          <a:noFill/>
          <a:ln/>
        </p:spPr>
        <p:txBody>
          <a:bodyPr wrap="square" lIns="0" tIns="0" rIns="0" bIns="0" rtlCol="0" anchor="ctr"/>
          <a:lstStyle/>
          <a:p>
            <a:pPr algn="ctr" indent="0" marL="0">
              <a:buNone/>
            </a:pPr>
            <a:r>
              <a:rPr lang="en-US" sz="1600" b="1" dirty="0">
                <a:solidFill>
                  <a:srgbClr val="1F2330"/>
                </a:solidFill>
                <a:latin typeface="Cambria" pitchFamily="34" charset="0"/>
                <a:ea typeface="Cambria" pitchFamily="34" charset="-122"/>
                <a:cs typeface="Cambria" pitchFamily="34" charset="-120"/>
              </a:rPr>
              <a:t>Forage</a:t>
            </a:r>
            <a:endParaRPr lang="en-US" sz="1600" dirty="0"/>
          </a:p>
        </p:txBody>
      </p:sp>
      <p:sp>
        <p:nvSpPr>
          <p:cNvPr id="14" name="Text 10"/>
          <p:cNvSpPr txBox="1"/>
          <p:nvPr/>
        </p:nvSpPr>
        <p:spPr>
          <a:xfrm>
            <a:off x="3474720" y="3767328"/>
            <a:ext cx="2194560" cy="640080"/>
          </a:xfrm>
          <a:prstGeom prst="rect">
            <a:avLst/>
          </a:prstGeom>
          <a:noFill/>
          <a:ln/>
        </p:spPr>
        <p:txBody>
          <a:bodyPr wrap="square" lIns="0" tIns="0" rIns="0" bIns="0" rtlCol="0" anchor="t"/>
          <a:lstStyle/>
          <a:p>
            <a:pPr algn="ctr" indent="0" marL="0">
              <a:buNone/>
            </a:pPr>
            <a:r>
              <a:rPr lang="en-US" sz="1100" dirty="0">
                <a:solidFill>
                  <a:srgbClr val="5B6070"/>
                </a:solidFill>
                <a:latin typeface="Calibri" pitchFamily="34" charset="0"/>
                <a:ea typeface="Calibri" pitchFamily="34" charset="-122"/>
                <a:cs typeface="Calibri" pitchFamily="34" charset="-120"/>
              </a:rPr>
              <a:t>Online platform for free, self-paced virtual job simulations.</a:t>
            </a:r>
            <a:endParaRPr lang="en-US" sz="1100" dirty="0"/>
          </a:p>
        </p:txBody>
      </p:sp>
      <p:sp>
        <p:nvSpPr>
          <p:cNvPr id="15" name="Shape 11"/>
          <p:cNvSpPr/>
          <p:nvPr/>
        </p:nvSpPr>
        <p:spPr>
          <a:xfrm>
            <a:off x="6126480" y="2514600"/>
            <a:ext cx="2560320" cy="1965960"/>
          </a:xfrm>
          <a:prstGeom prst="roundRect">
            <a:avLst>
              <a:gd name="adj" fmla="val 3721"/>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6" name="Shape 12"/>
          <p:cNvSpPr/>
          <p:nvPr/>
        </p:nvSpPr>
        <p:spPr>
          <a:xfrm>
            <a:off x="7086600" y="2697480"/>
            <a:ext cx="640080" cy="640080"/>
          </a:xfrm>
          <a:prstGeom prst="ellipse">
            <a:avLst/>
          </a:prstGeom>
          <a:solidFill>
            <a:srgbClr val="FDE7EA"/>
          </a:solidFill>
          <a:ln w="12700">
            <a:solidFill>
              <a:srgbClr val="FDE7EA"/>
            </a:solidFill>
            <a:prstDash val="solid"/>
          </a:ln>
        </p:spPr>
      </p:sp>
      <p:pic>
        <p:nvPicPr>
          <p:cNvPr id="17" name="Image 2" descr="preencoded.png">    </p:cNvPr>
          <p:cNvPicPr>
            <a:picLocks noChangeAspect="1"/>
          </p:cNvPicPr>
          <p:nvPr/>
        </p:nvPicPr>
        <p:blipFill>
          <a:blip r:embed="rId3"/>
          <a:stretch>
            <a:fillRect/>
          </a:stretch>
        </p:blipFill>
        <p:spPr>
          <a:xfrm>
            <a:off x="7246620" y="2857500"/>
            <a:ext cx="320040" cy="320040"/>
          </a:xfrm>
          <a:prstGeom prst="rect">
            <a:avLst/>
          </a:prstGeom>
        </p:spPr>
      </p:pic>
      <p:sp>
        <p:nvSpPr>
          <p:cNvPr id="18" name="Text 13"/>
          <p:cNvSpPr txBox="1"/>
          <p:nvPr/>
        </p:nvSpPr>
        <p:spPr>
          <a:xfrm>
            <a:off x="6263640" y="3429000"/>
            <a:ext cx="2286000" cy="320040"/>
          </a:xfrm>
          <a:prstGeom prst="rect">
            <a:avLst/>
          </a:prstGeom>
          <a:noFill/>
          <a:ln/>
        </p:spPr>
        <p:txBody>
          <a:bodyPr wrap="square" lIns="0" tIns="0" rIns="0" bIns="0" rtlCol="0" anchor="ctr"/>
          <a:lstStyle/>
          <a:p>
            <a:pPr algn="ctr" indent="0" marL="0">
              <a:buNone/>
            </a:pPr>
            <a:r>
              <a:rPr lang="en-US" sz="1600" b="1" dirty="0">
                <a:solidFill>
                  <a:srgbClr val="1F2330"/>
                </a:solidFill>
                <a:latin typeface="Cambria" pitchFamily="34" charset="0"/>
                <a:ea typeface="Cambria" pitchFamily="34" charset="-122"/>
                <a:cs typeface="Cambria" pitchFamily="34" charset="-120"/>
              </a:rPr>
              <a:t>Certificate</a:t>
            </a:r>
            <a:endParaRPr lang="en-US" sz="1600" dirty="0"/>
          </a:p>
        </p:txBody>
      </p:sp>
      <p:sp>
        <p:nvSpPr>
          <p:cNvPr id="19" name="Text 14"/>
          <p:cNvSpPr txBox="1"/>
          <p:nvPr/>
        </p:nvSpPr>
        <p:spPr>
          <a:xfrm>
            <a:off x="6309360" y="3767328"/>
            <a:ext cx="2194560" cy="640080"/>
          </a:xfrm>
          <a:prstGeom prst="rect">
            <a:avLst/>
          </a:prstGeom>
          <a:noFill/>
          <a:ln/>
        </p:spPr>
        <p:txBody>
          <a:bodyPr wrap="square" lIns="0" tIns="0" rIns="0" bIns="0" rtlCol="0" anchor="t"/>
          <a:lstStyle/>
          <a:p>
            <a:pPr algn="ctr" indent="0" marL="0">
              <a:buNone/>
            </a:pPr>
            <a:r>
              <a:rPr lang="en-US" sz="1100" dirty="0">
                <a:solidFill>
                  <a:srgbClr val="5B6070"/>
                </a:solidFill>
                <a:latin typeface="Calibri" pitchFamily="34" charset="0"/>
                <a:ea typeface="Calibri" pitchFamily="34" charset="-122"/>
                <a:cs typeface="Calibri" pitchFamily="34" charset="-120"/>
              </a:rPr>
              <a:t>Certificate of Completion issued by Forage on 20 September 2026.</a:t>
            </a:r>
            <a:endParaRPr lang="en-US" sz="1100" dirty="0"/>
          </a:p>
        </p:txBody>
      </p:sp>
      <p:sp>
        <p:nvSpPr>
          <p:cNvPr id="20" name="Text 15"/>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5B6070"/>
                </a:solidFill>
                <a:latin typeface="Calibri" pitchFamily="34" charset="0"/>
                <a:ea typeface="Calibri" pitchFamily="34" charset="-122"/>
                <a:cs typeface="Calibri" pitchFamily="34" charset="-120"/>
              </a:rPr>
              <a:t>Cybersecurity Job Simulation  |  Aditya Sharma</a:t>
            </a:r>
            <a:endParaRPr lang="en-US" sz="900" dirty="0"/>
          </a:p>
        </p:txBody>
      </p:sp>
      <p:sp>
        <p:nvSpPr>
          <p:cNvPr id="21" name="Text 16"/>
          <p:cNvSpPr txBox="1"/>
          <p:nvPr/>
        </p:nvSpPr>
        <p:spPr>
          <a:xfrm>
            <a:off x="8138160" y="4754880"/>
            <a:ext cx="548640" cy="228600"/>
          </a:xfrm>
          <a:prstGeom prst="rect">
            <a:avLst/>
          </a:prstGeom>
          <a:noFill/>
          <a:ln/>
        </p:spPr>
        <p:txBody>
          <a:bodyPr wrap="square" lIns="0" tIns="0" rIns="0" bIns="0" rtlCol="0" anchor="ctr"/>
          <a:lstStyle/>
          <a:p>
            <a:pPr algn="r" indent="0" marL="0">
              <a:buNone/>
            </a:pPr>
            <a:r>
              <a:rPr lang="en-US" sz="900" dirty="0">
                <a:solidFill>
                  <a:srgbClr val="5B607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400" kern="0" dirty="0">
                <a:solidFill>
                  <a:srgbClr val="EB001B"/>
                </a:solidFill>
                <a:latin typeface="Calibri" pitchFamily="34" charset="0"/>
                <a:ea typeface="Calibri" pitchFamily="34" charset="-122"/>
                <a:cs typeface="Calibri" pitchFamily="34" charset="-120"/>
              </a:rPr>
              <a:t>PROBLEM STATEMENT</a:t>
            </a:r>
            <a:endParaRPr lang="en-US" sz="1100" dirty="0"/>
          </a:p>
        </p:txBody>
      </p:sp>
      <p:sp>
        <p:nvSpPr>
          <p:cNvPr id="3" name="Text 1"/>
          <p:cNvSpPr txBox="1"/>
          <p:nvPr/>
        </p:nvSpPr>
        <p:spPr>
          <a:xfrm>
            <a:off x="457200" y="594360"/>
            <a:ext cx="8229600" cy="640080"/>
          </a:xfrm>
          <a:prstGeom prst="rect">
            <a:avLst/>
          </a:prstGeom>
          <a:noFill/>
          <a:ln/>
        </p:spPr>
        <p:txBody>
          <a:bodyPr wrap="square" lIns="0" tIns="0" rIns="0" bIns="0" rtlCol="0" anchor="ctr"/>
          <a:lstStyle/>
          <a:p>
            <a:pPr indent="0" marL="0">
              <a:buNone/>
            </a:pPr>
            <a:r>
              <a:rPr lang="en-US" sz="3000" b="1" dirty="0">
                <a:solidFill>
                  <a:srgbClr val="1F2330"/>
                </a:solidFill>
                <a:latin typeface="Cambria" pitchFamily="34" charset="0"/>
                <a:ea typeface="Cambria" pitchFamily="34" charset="-122"/>
                <a:cs typeface="Cambria" pitchFamily="34" charset="-120"/>
              </a:rPr>
              <a:t>From Phishing Theory to Practice</a:t>
            </a:r>
            <a:endParaRPr lang="en-US" sz="3000" dirty="0"/>
          </a:p>
        </p:txBody>
      </p:sp>
      <p:sp>
        <p:nvSpPr>
          <p:cNvPr id="4" name="Shape 2"/>
          <p:cNvSpPr/>
          <p:nvPr/>
        </p:nvSpPr>
        <p:spPr>
          <a:xfrm>
            <a:off x="457200" y="1371600"/>
            <a:ext cx="8229600" cy="1417320"/>
          </a:xfrm>
          <a:prstGeom prst="roundRect">
            <a:avLst>
              <a:gd name="adj" fmla="val 5161"/>
            </a:avLst>
          </a:prstGeom>
          <a:solidFill>
            <a:srgbClr val="F3F4F7"/>
          </a:solidFill>
          <a:ln w="12700">
            <a:solidFill>
              <a:srgbClr val="F3F4F7"/>
            </a:solidFill>
            <a:prstDash val="solid"/>
          </a:ln>
        </p:spPr>
      </p:sp>
      <p:sp>
        <p:nvSpPr>
          <p:cNvPr id="5" name="Text 3"/>
          <p:cNvSpPr txBox="1"/>
          <p:nvPr/>
        </p:nvSpPr>
        <p:spPr>
          <a:xfrm>
            <a:off x="685800" y="1463040"/>
            <a:ext cx="7772400" cy="123444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Phishing works because it targets people, not software. Students usually learn it only as theory, with little practice in designing an awareness exercise or reading its results. This simulation addressed that gap: design a phishing email simulation, then interpret the results to guide what an organisation should do next.</a:t>
            </a:r>
            <a:endParaRPr lang="en-US" sz="1400" dirty="0"/>
          </a:p>
        </p:txBody>
      </p:sp>
      <p:sp>
        <p:nvSpPr>
          <p:cNvPr id="6" name="Text 4"/>
          <p:cNvSpPr txBox="1"/>
          <p:nvPr/>
        </p:nvSpPr>
        <p:spPr>
          <a:xfrm>
            <a:off x="457200" y="3017520"/>
            <a:ext cx="8229600" cy="274320"/>
          </a:xfrm>
          <a:prstGeom prst="rect">
            <a:avLst/>
          </a:prstGeom>
          <a:noFill/>
          <a:ln/>
        </p:spPr>
        <p:txBody>
          <a:bodyPr wrap="square" lIns="0" tIns="0" rIns="0" bIns="0" rtlCol="0" anchor="ctr"/>
          <a:lstStyle/>
          <a:p>
            <a:pPr indent="0" marL="0">
              <a:buNone/>
            </a:pPr>
            <a:r>
              <a:rPr lang="en-US" sz="1300" b="1" dirty="0">
                <a:solidFill>
                  <a:srgbClr val="1F2330"/>
                </a:solidFill>
                <a:latin typeface="Calibri" pitchFamily="34" charset="0"/>
                <a:ea typeface="Calibri" pitchFamily="34" charset="-122"/>
                <a:cs typeface="Calibri" pitchFamily="34" charset="-120"/>
              </a:rPr>
              <a:t>The skills practised, end to end:</a:t>
            </a:r>
            <a:endParaRPr lang="en-US" sz="1300" dirty="0"/>
          </a:p>
        </p:txBody>
      </p:sp>
      <p:sp>
        <p:nvSpPr>
          <p:cNvPr id="7" name="Shape 5"/>
          <p:cNvSpPr/>
          <p:nvPr/>
        </p:nvSpPr>
        <p:spPr>
          <a:xfrm>
            <a:off x="457200" y="3383280"/>
            <a:ext cx="1828800" cy="1097280"/>
          </a:xfrm>
          <a:prstGeom prst="roundRect">
            <a:avLst>
              <a:gd name="adj" fmla="val 6667"/>
            </a:avLst>
          </a:prstGeom>
          <a:solidFill>
            <a:srgbClr val="16161D"/>
          </a:solidFill>
          <a:ln w="12700">
            <a:solidFill>
              <a:srgbClr val="16161D"/>
            </a:solidFill>
            <a:prstDash val="solid"/>
          </a:ln>
        </p:spPr>
      </p:sp>
      <p:sp>
        <p:nvSpPr>
          <p:cNvPr id="8" name="Shape 6"/>
          <p:cNvSpPr/>
          <p:nvPr/>
        </p:nvSpPr>
        <p:spPr>
          <a:xfrm>
            <a:off x="1143000" y="3474720"/>
            <a:ext cx="457200" cy="457200"/>
          </a:xfrm>
          <a:prstGeom prst="ellipse">
            <a:avLst/>
          </a:prstGeom>
          <a:solidFill>
            <a:srgbClr val="22222C"/>
          </a:solidFill>
          <a:ln w="12700">
            <a:solidFill>
              <a:srgbClr val="22222C"/>
            </a:solidFill>
            <a:prstDash val="solid"/>
          </a:ln>
        </p:spPr>
      </p:sp>
      <p:pic>
        <p:nvPicPr>
          <p:cNvPr id="9" name="Image 0" descr="preencoded.png">    </p:cNvPr>
          <p:cNvPicPr>
            <a:picLocks noChangeAspect="1"/>
          </p:cNvPicPr>
          <p:nvPr/>
        </p:nvPicPr>
        <p:blipFill>
          <a:blip r:embed="rId1"/>
          <a:stretch>
            <a:fillRect/>
          </a:stretch>
        </p:blipFill>
        <p:spPr>
          <a:xfrm>
            <a:off x="1257300" y="3589020"/>
            <a:ext cx="228600" cy="228600"/>
          </a:xfrm>
          <a:prstGeom prst="rect">
            <a:avLst/>
          </a:prstGeom>
        </p:spPr>
      </p:pic>
      <p:sp>
        <p:nvSpPr>
          <p:cNvPr id="10" name="Text 7"/>
          <p:cNvSpPr txBox="1"/>
          <p:nvPr/>
        </p:nvSpPr>
        <p:spPr>
          <a:xfrm>
            <a:off x="502920" y="4023360"/>
            <a:ext cx="17373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Understand Threat</a:t>
            </a:r>
            <a:endParaRPr lang="en-US" sz="1200" dirty="0"/>
          </a:p>
        </p:txBody>
      </p:sp>
      <p:pic>
        <p:nvPicPr>
          <p:cNvPr id="11" name="Image 1" descr="preencoded.png">    </p:cNvPr>
          <p:cNvPicPr>
            <a:picLocks noChangeAspect="1"/>
          </p:cNvPicPr>
          <p:nvPr/>
        </p:nvPicPr>
        <p:blipFill>
          <a:blip r:embed="rId2"/>
          <a:stretch>
            <a:fillRect/>
          </a:stretch>
        </p:blipFill>
        <p:spPr>
          <a:xfrm>
            <a:off x="2331720" y="3794760"/>
            <a:ext cx="201168" cy="201168"/>
          </a:xfrm>
          <a:prstGeom prst="rect">
            <a:avLst/>
          </a:prstGeom>
        </p:spPr>
      </p:pic>
      <p:sp>
        <p:nvSpPr>
          <p:cNvPr id="12" name="Shape 8"/>
          <p:cNvSpPr/>
          <p:nvPr/>
        </p:nvSpPr>
        <p:spPr>
          <a:xfrm>
            <a:off x="2578608" y="3383280"/>
            <a:ext cx="1828800" cy="1097280"/>
          </a:xfrm>
          <a:prstGeom prst="roundRect">
            <a:avLst>
              <a:gd name="adj" fmla="val 6667"/>
            </a:avLst>
          </a:prstGeom>
          <a:solidFill>
            <a:srgbClr val="16161D"/>
          </a:solidFill>
          <a:ln w="12700">
            <a:solidFill>
              <a:srgbClr val="16161D"/>
            </a:solidFill>
            <a:prstDash val="solid"/>
          </a:ln>
        </p:spPr>
      </p:sp>
      <p:sp>
        <p:nvSpPr>
          <p:cNvPr id="13" name="Shape 9"/>
          <p:cNvSpPr/>
          <p:nvPr/>
        </p:nvSpPr>
        <p:spPr>
          <a:xfrm>
            <a:off x="3264408" y="3474720"/>
            <a:ext cx="457200" cy="457200"/>
          </a:xfrm>
          <a:prstGeom prst="ellipse">
            <a:avLst/>
          </a:prstGeom>
          <a:solidFill>
            <a:srgbClr val="22222C"/>
          </a:solidFill>
          <a:ln w="12700">
            <a:solidFill>
              <a:srgbClr val="22222C"/>
            </a:solidFill>
            <a:prstDash val="solid"/>
          </a:ln>
        </p:spPr>
      </p:sp>
      <p:pic>
        <p:nvPicPr>
          <p:cNvPr id="14" name="Image 2" descr="preencoded.png">    </p:cNvPr>
          <p:cNvPicPr>
            <a:picLocks noChangeAspect="1"/>
          </p:cNvPicPr>
          <p:nvPr/>
        </p:nvPicPr>
        <p:blipFill>
          <a:blip r:embed="rId3"/>
          <a:stretch>
            <a:fillRect/>
          </a:stretch>
        </p:blipFill>
        <p:spPr>
          <a:xfrm>
            <a:off x="3378708" y="3589020"/>
            <a:ext cx="228600" cy="228600"/>
          </a:xfrm>
          <a:prstGeom prst="rect">
            <a:avLst/>
          </a:prstGeom>
        </p:spPr>
      </p:pic>
      <p:sp>
        <p:nvSpPr>
          <p:cNvPr id="15" name="Text 10"/>
          <p:cNvSpPr txBox="1"/>
          <p:nvPr/>
        </p:nvSpPr>
        <p:spPr>
          <a:xfrm>
            <a:off x="2624328" y="4023360"/>
            <a:ext cx="17373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Design Simulation</a:t>
            </a:r>
            <a:endParaRPr lang="en-US" sz="1200" dirty="0"/>
          </a:p>
        </p:txBody>
      </p:sp>
      <p:pic>
        <p:nvPicPr>
          <p:cNvPr id="16" name="Image 3" descr="preencoded.png">    </p:cNvPr>
          <p:cNvPicPr>
            <a:picLocks noChangeAspect="1"/>
          </p:cNvPicPr>
          <p:nvPr/>
        </p:nvPicPr>
        <p:blipFill>
          <a:blip r:embed="rId4"/>
          <a:stretch>
            <a:fillRect/>
          </a:stretch>
        </p:blipFill>
        <p:spPr>
          <a:xfrm>
            <a:off x="4453128" y="3794760"/>
            <a:ext cx="201168" cy="201168"/>
          </a:xfrm>
          <a:prstGeom prst="rect">
            <a:avLst/>
          </a:prstGeom>
        </p:spPr>
      </p:pic>
      <p:sp>
        <p:nvSpPr>
          <p:cNvPr id="17" name="Shape 11"/>
          <p:cNvSpPr/>
          <p:nvPr/>
        </p:nvSpPr>
        <p:spPr>
          <a:xfrm>
            <a:off x="4700016" y="3383280"/>
            <a:ext cx="1828800" cy="1097280"/>
          </a:xfrm>
          <a:prstGeom prst="roundRect">
            <a:avLst>
              <a:gd name="adj" fmla="val 6667"/>
            </a:avLst>
          </a:prstGeom>
          <a:solidFill>
            <a:srgbClr val="16161D"/>
          </a:solidFill>
          <a:ln w="12700">
            <a:solidFill>
              <a:srgbClr val="16161D"/>
            </a:solidFill>
            <a:prstDash val="solid"/>
          </a:ln>
        </p:spPr>
      </p:sp>
      <p:sp>
        <p:nvSpPr>
          <p:cNvPr id="18" name="Shape 12"/>
          <p:cNvSpPr/>
          <p:nvPr/>
        </p:nvSpPr>
        <p:spPr>
          <a:xfrm>
            <a:off x="5385816" y="3474720"/>
            <a:ext cx="457200" cy="457200"/>
          </a:xfrm>
          <a:prstGeom prst="ellipse">
            <a:avLst/>
          </a:prstGeom>
          <a:solidFill>
            <a:srgbClr val="22222C"/>
          </a:solidFill>
          <a:ln w="12700">
            <a:solidFill>
              <a:srgbClr val="22222C"/>
            </a:solidFill>
            <a:prstDash val="solid"/>
          </a:ln>
        </p:spPr>
      </p:sp>
      <p:pic>
        <p:nvPicPr>
          <p:cNvPr id="19" name="Image 4" descr="preencoded.png">    </p:cNvPr>
          <p:cNvPicPr>
            <a:picLocks noChangeAspect="1"/>
          </p:cNvPicPr>
          <p:nvPr/>
        </p:nvPicPr>
        <p:blipFill>
          <a:blip r:embed="rId5"/>
          <a:stretch>
            <a:fillRect/>
          </a:stretch>
        </p:blipFill>
        <p:spPr>
          <a:xfrm>
            <a:off x="5500116" y="3589020"/>
            <a:ext cx="228600" cy="228600"/>
          </a:xfrm>
          <a:prstGeom prst="rect">
            <a:avLst/>
          </a:prstGeom>
        </p:spPr>
      </p:pic>
      <p:sp>
        <p:nvSpPr>
          <p:cNvPr id="20" name="Text 13"/>
          <p:cNvSpPr txBox="1"/>
          <p:nvPr/>
        </p:nvSpPr>
        <p:spPr>
          <a:xfrm>
            <a:off x="4745736" y="4023360"/>
            <a:ext cx="17373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Interpret Results</a:t>
            </a:r>
            <a:endParaRPr lang="en-US" sz="1200" dirty="0"/>
          </a:p>
        </p:txBody>
      </p:sp>
      <p:pic>
        <p:nvPicPr>
          <p:cNvPr id="21" name="Image 5" descr="preencoded.png">    </p:cNvPr>
          <p:cNvPicPr>
            <a:picLocks noChangeAspect="1"/>
          </p:cNvPicPr>
          <p:nvPr/>
        </p:nvPicPr>
        <p:blipFill>
          <a:blip r:embed="rId6"/>
          <a:stretch>
            <a:fillRect/>
          </a:stretch>
        </p:blipFill>
        <p:spPr>
          <a:xfrm>
            <a:off x="6574536" y="3794760"/>
            <a:ext cx="201168" cy="201168"/>
          </a:xfrm>
          <a:prstGeom prst="rect">
            <a:avLst/>
          </a:prstGeom>
        </p:spPr>
      </p:pic>
      <p:sp>
        <p:nvSpPr>
          <p:cNvPr id="22" name="Shape 14"/>
          <p:cNvSpPr/>
          <p:nvPr/>
        </p:nvSpPr>
        <p:spPr>
          <a:xfrm>
            <a:off x="6821424" y="3383280"/>
            <a:ext cx="1828800" cy="1097280"/>
          </a:xfrm>
          <a:prstGeom prst="roundRect">
            <a:avLst>
              <a:gd name="adj" fmla="val 6667"/>
            </a:avLst>
          </a:prstGeom>
          <a:solidFill>
            <a:srgbClr val="16161D"/>
          </a:solidFill>
          <a:ln w="12700">
            <a:solidFill>
              <a:srgbClr val="16161D"/>
            </a:solidFill>
            <a:prstDash val="solid"/>
          </a:ln>
        </p:spPr>
      </p:sp>
      <p:sp>
        <p:nvSpPr>
          <p:cNvPr id="23" name="Shape 15"/>
          <p:cNvSpPr/>
          <p:nvPr/>
        </p:nvSpPr>
        <p:spPr>
          <a:xfrm>
            <a:off x="7507224" y="3474720"/>
            <a:ext cx="457200" cy="457200"/>
          </a:xfrm>
          <a:prstGeom prst="ellipse">
            <a:avLst/>
          </a:prstGeom>
          <a:solidFill>
            <a:srgbClr val="22222C"/>
          </a:solidFill>
          <a:ln w="12700">
            <a:solidFill>
              <a:srgbClr val="22222C"/>
            </a:solidFill>
            <a:prstDash val="solid"/>
          </a:ln>
        </p:spPr>
      </p:sp>
      <p:pic>
        <p:nvPicPr>
          <p:cNvPr id="24" name="Image 6" descr="preencoded.png">    </p:cNvPr>
          <p:cNvPicPr>
            <a:picLocks noChangeAspect="1"/>
          </p:cNvPicPr>
          <p:nvPr/>
        </p:nvPicPr>
        <p:blipFill>
          <a:blip r:embed="rId7"/>
          <a:stretch>
            <a:fillRect/>
          </a:stretch>
        </p:blipFill>
        <p:spPr>
          <a:xfrm>
            <a:off x="7621524" y="3589020"/>
            <a:ext cx="228600" cy="228600"/>
          </a:xfrm>
          <a:prstGeom prst="rect">
            <a:avLst/>
          </a:prstGeom>
        </p:spPr>
      </p:pic>
      <p:sp>
        <p:nvSpPr>
          <p:cNvPr id="25" name="Text 16"/>
          <p:cNvSpPr txBox="1"/>
          <p:nvPr/>
        </p:nvSpPr>
        <p:spPr>
          <a:xfrm>
            <a:off x="6867144" y="4023360"/>
            <a:ext cx="17373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Recommend Action</a:t>
            </a:r>
            <a:endParaRPr lang="en-US" sz="1200" dirty="0"/>
          </a:p>
        </p:txBody>
      </p:sp>
      <p:sp>
        <p:nvSpPr>
          <p:cNvPr id="26" name="Text 17"/>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5B6070"/>
                </a:solidFill>
                <a:latin typeface="Calibri" pitchFamily="34" charset="0"/>
                <a:ea typeface="Calibri" pitchFamily="34" charset="-122"/>
                <a:cs typeface="Calibri" pitchFamily="34" charset="-120"/>
              </a:rPr>
              <a:t>Cybersecurity Job Simulation  |  Aditya Sharma</a:t>
            </a:r>
            <a:endParaRPr lang="en-US" sz="900" dirty="0"/>
          </a:p>
        </p:txBody>
      </p:sp>
      <p:sp>
        <p:nvSpPr>
          <p:cNvPr id="27" name="Text 18"/>
          <p:cNvSpPr txBox="1"/>
          <p:nvPr/>
        </p:nvSpPr>
        <p:spPr>
          <a:xfrm>
            <a:off x="8138160" y="4754880"/>
            <a:ext cx="548640" cy="228600"/>
          </a:xfrm>
          <a:prstGeom prst="rect">
            <a:avLst/>
          </a:prstGeom>
          <a:noFill/>
          <a:ln/>
        </p:spPr>
        <p:txBody>
          <a:bodyPr wrap="square" lIns="0" tIns="0" rIns="0" bIns="0" rtlCol="0" anchor="ctr"/>
          <a:lstStyle/>
          <a:p>
            <a:pPr algn="r" indent="0" marL="0">
              <a:buNone/>
            </a:pPr>
            <a:r>
              <a:rPr lang="en-US" sz="900" dirty="0">
                <a:solidFill>
                  <a:srgbClr val="5B6070"/>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7"/>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400" kern="0" dirty="0">
                <a:solidFill>
                  <a:srgbClr val="EB001B"/>
                </a:solidFill>
                <a:latin typeface="Calibri" pitchFamily="34" charset="0"/>
                <a:ea typeface="Calibri" pitchFamily="34" charset="-122"/>
                <a:cs typeface="Calibri" pitchFamily="34" charset="-120"/>
              </a:rPr>
              <a:t>PROJECT OBJECTIVES</a:t>
            </a:r>
            <a:endParaRPr lang="en-US" sz="1100" dirty="0"/>
          </a:p>
        </p:txBody>
      </p:sp>
      <p:sp>
        <p:nvSpPr>
          <p:cNvPr id="3" name="Text 1"/>
          <p:cNvSpPr txBox="1"/>
          <p:nvPr/>
        </p:nvSpPr>
        <p:spPr>
          <a:xfrm>
            <a:off x="457200" y="594360"/>
            <a:ext cx="8229600" cy="640080"/>
          </a:xfrm>
          <a:prstGeom prst="rect">
            <a:avLst/>
          </a:prstGeom>
          <a:noFill/>
          <a:ln/>
        </p:spPr>
        <p:txBody>
          <a:bodyPr wrap="square" lIns="0" tIns="0" rIns="0" bIns="0" rtlCol="0" anchor="ctr"/>
          <a:lstStyle/>
          <a:p>
            <a:pPr indent="0" marL="0">
              <a:buNone/>
            </a:pPr>
            <a:r>
              <a:rPr lang="en-US" sz="3000" b="1" dirty="0">
                <a:solidFill>
                  <a:srgbClr val="1F2330"/>
                </a:solidFill>
                <a:latin typeface="Cambria" pitchFamily="34" charset="0"/>
                <a:ea typeface="Cambria" pitchFamily="34" charset="-122"/>
                <a:cs typeface="Cambria" pitchFamily="34" charset="-120"/>
              </a:rPr>
              <a:t>What the Simulation Set Out to Achieve</a:t>
            </a:r>
            <a:endParaRPr lang="en-US" sz="3000" dirty="0"/>
          </a:p>
        </p:txBody>
      </p:sp>
      <p:sp>
        <p:nvSpPr>
          <p:cNvPr id="4" name="Shape 2"/>
          <p:cNvSpPr/>
          <p:nvPr/>
        </p:nvSpPr>
        <p:spPr>
          <a:xfrm>
            <a:off x="457200" y="1417320"/>
            <a:ext cx="256032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594360" y="1554480"/>
            <a:ext cx="457200" cy="457200"/>
          </a:xfrm>
          <a:prstGeom prst="ellipse">
            <a:avLst/>
          </a:prstGeom>
          <a:solidFill>
            <a:srgbClr val="FDE7EA"/>
          </a:solidFill>
          <a:ln w="12700">
            <a:solidFill>
              <a:srgbClr val="FDE7EA"/>
            </a:solidFill>
            <a:prstDash val="solid"/>
          </a:ln>
        </p:spPr>
      </p:sp>
      <p:pic>
        <p:nvPicPr>
          <p:cNvPr id="6" name="Image 0" descr="preencoded.png">    </p:cNvPr>
          <p:cNvPicPr>
            <a:picLocks noChangeAspect="1"/>
          </p:cNvPicPr>
          <p:nvPr/>
        </p:nvPicPr>
        <p:blipFill>
          <a:blip r:embed="rId1"/>
          <a:stretch>
            <a:fillRect/>
          </a:stretch>
        </p:blipFill>
        <p:spPr>
          <a:xfrm>
            <a:off x="708660" y="1668780"/>
            <a:ext cx="228600" cy="228600"/>
          </a:xfrm>
          <a:prstGeom prst="rect">
            <a:avLst/>
          </a:prstGeom>
        </p:spPr>
      </p:pic>
      <p:sp>
        <p:nvSpPr>
          <p:cNvPr id="7" name="Text 4"/>
          <p:cNvSpPr txBox="1"/>
          <p:nvPr/>
        </p:nvSpPr>
        <p:spPr>
          <a:xfrm>
            <a:off x="1143000" y="1554480"/>
            <a:ext cx="1783080" cy="457200"/>
          </a:xfrm>
          <a:prstGeom prst="rect">
            <a:avLst/>
          </a:prstGeom>
          <a:noFill/>
          <a:ln/>
        </p:spPr>
        <p:txBody>
          <a:bodyPr wrap="square" lIns="0" tIns="0" rIns="0" bIns="0" rtlCol="0" anchor="ctr"/>
          <a:lstStyle/>
          <a:p>
            <a:pPr indent="0" marL="0">
              <a:buNone/>
            </a:pPr>
            <a:r>
              <a:rPr lang="en-US" sz="1300" b="1" dirty="0">
                <a:solidFill>
                  <a:srgbClr val="1F2330"/>
                </a:solidFill>
                <a:latin typeface="Calibri" pitchFamily="34" charset="0"/>
                <a:ea typeface="Calibri" pitchFamily="34" charset="-122"/>
                <a:cs typeface="Calibri" pitchFamily="34" charset="-120"/>
              </a:rPr>
              <a:t>Understand Phishing</a:t>
            </a:r>
            <a:endParaRPr lang="en-US" sz="1300" dirty="0"/>
          </a:p>
        </p:txBody>
      </p:sp>
      <p:sp>
        <p:nvSpPr>
          <p:cNvPr id="8" name="Text 5"/>
          <p:cNvSpPr txBox="1"/>
          <p:nvPr/>
        </p:nvSpPr>
        <p:spPr>
          <a:xfrm>
            <a:off x="594360" y="2103120"/>
            <a:ext cx="2286000" cy="731520"/>
          </a:xfrm>
          <a:prstGeom prst="rect">
            <a:avLst/>
          </a:prstGeom>
          <a:noFill/>
          <a:ln/>
        </p:spPr>
        <p:txBody>
          <a:bodyPr wrap="square" lIns="0" tIns="0" rIns="0" bIns="0" rtlCol="0" anchor="t"/>
          <a:lstStyle/>
          <a:p>
            <a:pPr indent="0" marL="0">
              <a:buNone/>
            </a:pPr>
            <a:r>
              <a:rPr lang="en-US" sz="1050" dirty="0">
                <a:solidFill>
                  <a:srgbClr val="5B6070"/>
                </a:solidFill>
                <a:latin typeface="Calibri" pitchFamily="34" charset="0"/>
                <a:ea typeface="Calibri" pitchFamily="34" charset="-122"/>
                <a:cs typeface="Calibri" pitchFamily="34" charset="-120"/>
              </a:rPr>
              <a:t>How phishing and social engineering work, and which indicators make an email convincing or suspicious.</a:t>
            </a:r>
            <a:endParaRPr lang="en-US" sz="1050" dirty="0"/>
          </a:p>
        </p:txBody>
      </p:sp>
      <p:sp>
        <p:nvSpPr>
          <p:cNvPr id="9" name="Shape 6"/>
          <p:cNvSpPr/>
          <p:nvPr/>
        </p:nvSpPr>
        <p:spPr>
          <a:xfrm>
            <a:off x="3291840" y="1417320"/>
            <a:ext cx="256032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3429000" y="1554480"/>
            <a:ext cx="457200" cy="457200"/>
          </a:xfrm>
          <a:prstGeom prst="ellipse">
            <a:avLst/>
          </a:prstGeom>
          <a:solidFill>
            <a:srgbClr val="FDE7EA"/>
          </a:solidFill>
          <a:ln w="12700">
            <a:solidFill>
              <a:srgbClr val="FDE7EA"/>
            </a:solidFill>
            <a:prstDash val="solid"/>
          </a:ln>
        </p:spPr>
      </p:sp>
      <p:pic>
        <p:nvPicPr>
          <p:cNvPr id="11" name="Image 1" descr="preencoded.png">    </p:cNvPr>
          <p:cNvPicPr>
            <a:picLocks noChangeAspect="1"/>
          </p:cNvPicPr>
          <p:nvPr/>
        </p:nvPicPr>
        <p:blipFill>
          <a:blip r:embed="rId2"/>
          <a:stretch>
            <a:fillRect/>
          </a:stretch>
        </p:blipFill>
        <p:spPr>
          <a:xfrm>
            <a:off x="3543300" y="1668780"/>
            <a:ext cx="228600" cy="228600"/>
          </a:xfrm>
          <a:prstGeom prst="rect">
            <a:avLst/>
          </a:prstGeom>
        </p:spPr>
      </p:pic>
      <p:sp>
        <p:nvSpPr>
          <p:cNvPr id="12" name="Text 8"/>
          <p:cNvSpPr txBox="1"/>
          <p:nvPr/>
        </p:nvSpPr>
        <p:spPr>
          <a:xfrm>
            <a:off x="3977640" y="1554480"/>
            <a:ext cx="1783080" cy="457200"/>
          </a:xfrm>
          <a:prstGeom prst="rect">
            <a:avLst/>
          </a:prstGeom>
          <a:noFill/>
          <a:ln/>
        </p:spPr>
        <p:txBody>
          <a:bodyPr wrap="square" lIns="0" tIns="0" rIns="0" bIns="0" rtlCol="0" anchor="ctr"/>
          <a:lstStyle/>
          <a:p>
            <a:pPr indent="0" marL="0">
              <a:buNone/>
            </a:pPr>
            <a:r>
              <a:rPr lang="en-US" sz="1300" b="1" dirty="0">
                <a:solidFill>
                  <a:srgbClr val="1F2330"/>
                </a:solidFill>
                <a:latin typeface="Calibri" pitchFamily="34" charset="0"/>
                <a:ea typeface="Calibri" pitchFamily="34" charset="-122"/>
                <a:cs typeface="Calibri" pitchFamily="34" charset="-120"/>
              </a:rPr>
              <a:t>Design a Simulation</a:t>
            </a:r>
            <a:endParaRPr lang="en-US" sz="1300" dirty="0"/>
          </a:p>
        </p:txBody>
      </p:sp>
      <p:sp>
        <p:nvSpPr>
          <p:cNvPr id="13" name="Text 9"/>
          <p:cNvSpPr txBox="1"/>
          <p:nvPr/>
        </p:nvSpPr>
        <p:spPr>
          <a:xfrm>
            <a:off x="3429000" y="2103120"/>
            <a:ext cx="2286000" cy="731520"/>
          </a:xfrm>
          <a:prstGeom prst="rect">
            <a:avLst/>
          </a:prstGeom>
          <a:noFill/>
          <a:ln/>
        </p:spPr>
        <p:txBody>
          <a:bodyPr wrap="square" lIns="0" tIns="0" rIns="0" bIns="0" rtlCol="0" anchor="t"/>
          <a:lstStyle/>
          <a:p>
            <a:pPr indent="0" marL="0">
              <a:buNone/>
            </a:pPr>
            <a:r>
              <a:rPr lang="en-US" sz="1050" dirty="0">
                <a:solidFill>
                  <a:srgbClr val="5B6070"/>
                </a:solidFill>
                <a:latin typeface="Calibri" pitchFamily="34" charset="0"/>
                <a:ea typeface="Calibri" pitchFamily="34" charset="-122"/>
                <a:cs typeface="Calibri" pitchFamily="34" charset="-120"/>
              </a:rPr>
              <a:t>Plan a phishing email simulation that tests and improves employee awareness.</a:t>
            </a:r>
            <a:endParaRPr lang="en-US" sz="1050" dirty="0"/>
          </a:p>
        </p:txBody>
      </p:sp>
      <p:sp>
        <p:nvSpPr>
          <p:cNvPr id="14" name="Shape 10"/>
          <p:cNvSpPr/>
          <p:nvPr/>
        </p:nvSpPr>
        <p:spPr>
          <a:xfrm>
            <a:off x="6126480" y="1417320"/>
            <a:ext cx="256032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6263640" y="1554480"/>
            <a:ext cx="457200" cy="457200"/>
          </a:xfrm>
          <a:prstGeom prst="ellipse">
            <a:avLst/>
          </a:prstGeom>
          <a:solidFill>
            <a:srgbClr val="FDE7EA"/>
          </a:solidFill>
          <a:ln w="12700">
            <a:solidFill>
              <a:srgbClr val="FDE7EA"/>
            </a:solidFill>
            <a:prstDash val="solid"/>
          </a:ln>
        </p:spPr>
      </p:sp>
      <p:pic>
        <p:nvPicPr>
          <p:cNvPr id="16" name="Image 2" descr="preencoded.png">    </p:cNvPr>
          <p:cNvPicPr>
            <a:picLocks noChangeAspect="1"/>
          </p:cNvPicPr>
          <p:nvPr/>
        </p:nvPicPr>
        <p:blipFill>
          <a:blip r:embed="rId3"/>
          <a:stretch>
            <a:fillRect/>
          </a:stretch>
        </p:blipFill>
        <p:spPr>
          <a:xfrm>
            <a:off x="6377940" y="1668780"/>
            <a:ext cx="228600" cy="228600"/>
          </a:xfrm>
          <a:prstGeom prst="rect">
            <a:avLst/>
          </a:prstGeom>
        </p:spPr>
      </p:pic>
      <p:sp>
        <p:nvSpPr>
          <p:cNvPr id="17" name="Text 12"/>
          <p:cNvSpPr txBox="1"/>
          <p:nvPr/>
        </p:nvSpPr>
        <p:spPr>
          <a:xfrm>
            <a:off x="6812280" y="1554480"/>
            <a:ext cx="1783080" cy="457200"/>
          </a:xfrm>
          <a:prstGeom prst="rect">
            <a:avLst/>
          </a:prstGeom>
          <a:noFill/>
          <a:ln/>
        </p:spPr>
        <p:txBody>
          <a:bodyPr wrap="square" lIns="0" tIns="0" rIns="0" bIns="0" rtlCol="0" anchor="ctr"/>
          <a:lstStyle/>
          <a:p>
            <a:pPr indent="0" marL="0">
              <a:buNone/>
            </a:pPr>
            <a:r>
              <a:rPr lang="en-US" sz="1300" b="1" dirty="0">
                <a:solidFill>
                  <a:srgbClr val="1F2330"/>
                </a:solidFill>
                <a:latin typeface="Calibri" pitchFamily="34" charset="0"/>
                <a:ea typeface="Calibri" pitchFamily="34" charset="-122"/>
                <a:cs typeface="Calibri" pitchFamily="34" charset="-120"/>
              </a:rPr>
              <a:t>Interpret Results</a:t>
            </a:r>
            <a:endParaRPr lang="en-US" sz="1300" dirty="0"/>
          </a:p>
        </p:txBody>
      </p:sp>
      <p:sp>
        <p:nvSpPr>
          <p:cNvPr id="18" name="Text 13"/>
          <p:cNvSpPr txBox="1"/>
          <p:nvPr/>
        </p:nvSpPr>
        <p:spPr>
          <a:xfrm>
            <a:off x="6263640" y="2103120"/>
            <a:ext cx="2286000" cy="731520"/>
          </a:xfrm>
          <a:prstGeom prst="rect">
            <a:avLst/>
          </a:prstGeom>
          <a:noFill/>
          <a:ln/>
        </p:spPr>
        <p:txBody>
          <a:bodyPr wrap="square" lIns="0" tIns="0" rIns="0" bIns="0" rtlCol="0" anchor="t"/>
          <a:lstStyle/>
          <a:p>
            <a:pPr indent="0" marL="0">
              <a:buNone/>
            </a:pPr>
            <a:r>
              <a:rPr lang="en-US" sz="1050" dirty="0">
                <a:solidFill>
                  <a:srgbClr val="5B6070"/>
                </a:solidFill>
                <a:latin typeface="Calibri" pitchFamily="34" charset="0"/>
                <a:ea typeface="Calibri" pitchFamily="34" charset="-122"/>
                <a:cs typeface="Calibri" pitchFamily="34" charset="-120"/>
              </a:rPr>
              <a:t>Read simulation results and identify what they say about user behaviour.</a:t>
            </a:r>
            <a:endParaRPr lang="en-US" sz="1050" dirty="0"/>
          </a:p>
        </p:txBody>
      </p:sp>
      <p:sp>
        <p:nvSpPr>
          <p:cNvPr id="19" name="Shape 14"/>
          <p:cNvSpPr/>
          <p:nvPr/>
        </p:nvSpPr>
        <p:spPr>
          <a:xfrm>
            <a:off x="457200" y="3063240"/>
            <a:ext cx="256032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594360" y="3200400"/>
            <a:ext cx="457200" cy="457200"/>
          </a:xfrm>
          <a:prstGeom prst="ellipse">
            <a:avLst/>
          </a:prstGeom>
          <a:solidFill>
            <a:srgbClr val="FDE7EA"/>
          </a:solidFill>
          <a:ln w="12700">
            <a:solidFill>
              <a:srgbClr val="FDE7EA"/>
            </a:solidFill>
            <a:prstDash val="solid"/>
          </a:ln>
        </p:spPr>
      </p:sp>
      <p:pic>
        <p:nvPicPr>
          <p:cNvPr id="21" name="Image 3" descr="preencoded.png">    </p:cNvPr>
          <p:cNvPicPr>
            <a:picLocks noChangeAspect="1"/>
          </p:cNvPicPr>
          <p:nvPr/>
        </p:nvPicPr>
        <p:blipFill>
          <a:blip r:embed="rId4"/>
          <a:stretch>
            <a:fillRect/>
          </a:stretch>
        </p:blipFill>
        <p:spPr>
          <a:xfrm>
            <a:off x="708660" y="3314700"/>
            <a:ext cx="228600" cy="228600"/>
          </a:xfrm>
          <a:prstGeom prst="rect">
            <a:avLst/>
          </a:prstGeom>
        </p:spPr>
      </p:pic>
      <p:sp>
        <p:nvSpPr>
          <p:cNvPr id="22" name="Text 16"/>
          <p:cNvSpPr txBox="1"/>
          <p:nvPr/>
        </p:nvSpPr>
        <p:spPr>
          <a:xfrm>
            <a:off x="1143000" y="3200400"/>
            <a:ext cx="1783080" cy="457200"/>
          </a:xfrm>
          <a:prstGeom prst="rect">
            <a:avLst/>
          </a:prstGeom>
          <a:noFill/>
          <a:ln/>
        </p:spPr>
        <p:txBody>
          <a:bodyPr wrap="square" lIns="0" tIns="0" rIns="0" bIns="0" rtlCol="0" anchor="ctr"/>
          <a:lstStyle/>
          <a:p>
            <a:pPr indent="0" marL="0">
              <a:buNone/>
            </a:pPr>
            <a:r>
              <a:rPr lang="en-US" sz="1300" b="1" dirty="0">
                <a:solidFill>
                  <a:srgbClr val="1F2330"/>
                </a:solidFill>
                <a:latin typeface="Calibri" pitchFamily="34" charset="0"/>
                <a:ea typeface="Calibri" pitchFamily="34" charset="-122"/>
                <a:cs typeface="Calibri" pitchFamily="34" charset="-120"/>
              </a:rPr>
              <a:t>Recommend Actions</a:t>
            </a:r>
            <a:endParaRPr lang="en-US" sz="1300" dirty="0"/>
          </a:p>
        </p:txBody>
      </p:sp>
      <p:sp>
        <p:nvSpPr>
          <p:cNvPr id="23" name="Text 17"/>
          <p:cNvSpPr txBox="1"/>
          <p:nvPr/>
        </p:nvSpPr>
        <p:spPr>
          <a:xfrm>
            <a:off x="594360" y="3749040"/>
            <a:ext cx="2286000" cy="731520"/>
          </a:xfrm>
          <a:prstGeom prst="rect">
            <a:avLst/>
          </a:prstGeom>
          <a:noFill/>
          <a:ln/>
        </p:spPr>
        <p:txBody>
          <a:bodyPr wrap="square" lIns="0" tIns="0" rIns="0" bIns="0" rtlCol="0" anchor="t"/>
          <a:lstStyle/>
          <a:p>
            <a:pPr indent="0" marL="0">
              <a:buNone/>
            </a:pPr>
            <a:r>
              <a:rPr lang="en-US" sz="1050" dirty="0">
                <a:solidFill>
                  <a:srgbClr val="5B6070"/>
                </a:solidFill>
                <a:latin typeface="Calibri" pitchFamily="34" charset="0"/>
                <a:ea typeface="Calibri" pitchFamily="34" charset="-122"/>
                <a:cs typeface="Calibri" pitchFamily="34" charset="-120"/>
              </a:rPr>
              <a:t>Turn findings into practical steps such as training and reporting guidance.</a:t>
            </a:r>
            <a:endParaRPr lang="en-US" sz="1050" dirty="0"/>
          </a:p>
        </p:txBody>
      </p:sp>
      <p:sp>
        <p:nvSpPr>
          <p:cNvPr id="24" name="Shape 18"/>
          <p:cNvSpPr/>
          <p:nvPr/>
        </p:nvSpPr>
        <p:spPr>
          <a:xfrm>
            <a:off x="3291840" y="3063240"/>
            <a:ext cx="256032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5" name="Shape 19"/>
          <p:cNvSpPr/>
          <p:nvPr/>
        </p:nvSpPr>
        <p:spPr>
          <a:xfrm>
            <a:off x="3429000" y="3200400"/>
            <a:ext cx="457200" cy="457200"/>
          </a:xfrm>
          <a:prstGeom prst="ellipse">
            <a:avLst/>
          </a:prstGeom>
          <a:solidFill>
            <a:srgbClr val="FDE7EA"/>
          </a:solidFill>
          <a:ln w="12700">
            <a:solidFill>
              <a:srgbClr val="FDE7EA"/>
            </a:solidFill>
            <a:prstDash val="solid"/>
          </a:ln>
        </p:spPr>
      </p:sp>
      <p:pic>
        <p:nvPicPr>
          <p:cNvPr id="26" name="Image 4" descr="preencoded.png">    </p:cNvPr>
          <p:cNvPicPr>
            <a:picLocks noChangeAspect="1"/>
          </p:cNvPicPr>
          <p:nvPr/>
        </p:nvPicPr>
        <p:blipFill>
          <a:blip r:embed="rId5"/>
          <a:stretch>
            <a:fillRect/>
          </a:stretch>
        </p:blipFill>
        <p:spPr>
          <a:xfrm>
            <a:off x="3543300" y="3314700"/>
            <a:ext cx="228600" cy="228600"/>
          </a:xfrm>
          <a:prstGeom prst="rect">
            <a:avLst/>
          </a:prstGeom>
        </p:spPr>
      </p:pic>
      <p:sp>
        <p:nvSpPr>
          <p:cNvPr id="27" name="Text 20"/>
          <p:cNvSpPr txBox="1"/>
          <p:nvPr/>
        </p:nvSpPr>
        <p:spPr>
          <a:xfrm>
            <a:off x="3977640" y="3200400"/>
            <a:ext cx="1783080" cy="457200"/>
          </a:xfrm>
          <a:prstGeom prst="rect">
            <a:avLst/>
          </a:prstGeom>
          <a:noFill/>
          <a:ln/>
        </p:spPr>
        <p:txBody>
          <a:bodyPr wrap="square" lIns="0" tIns="0" rIns="0" bIns="0" rtlCol="0" anchor="ctr"/>
          <a:lstStyle/>
          <a:p>
            <a:pPr indent="0" marL="0">
              <a:buNone/>
            </a:pPr>
            <a:r>
              <a:rPr lang="en-US" sz="1300" b="1" dirty="0">
                <a:solidFill>
                  <a:srgbClr val="1F2330"/>
                </a:solidFill>
                <a:latin typeface="Calibri" pitchFamily="34" charset="0"/>
                <a:ea typeface="Calibri" pitchFamily="34" charset="-122"/>
                <a:cs typeface="Calibri" pitchFamily="34" charset="-120"/>
              </a:rPr>
              <a:t>Work Safely</a:t>
            </a:r>
            <a:endParaRPr lang="en-US" sz="1300" dirty="0"/>
          </a:p>
        </p:txBody>
      </p:sp>
      <p:sp>
        <p:nvSpPr>
          <p:cNvPr id="28" name="Text 21"/>
          <p:cNvSpPr txBox="1"/>
          <p:nvPr/>
        </p:nvSpPr>
        <p:spPr>
          <a:xfrm>
            <a:off x="3429000" y="3749040"/>
            <a:ext cx="2286000" cy="731520"/>
          </a:xfrm>
          <a:prstGeom prst="rect">
            <a:avLst/>
          </a:prstGeom>
          <a:noFill/>
          <a:ln/>
        </p:spPr>
        <p:txBody>
          <a:bodyPr wrap="square" lIns="0" tIns="0" rIns="0" bIns="0" rtlCol="0" anchor="t"/>
          <a:lstStyle/>
          <a:p>
            <a:pPr indent="0" marL="0">
              <a:buNone/>
            </a:pPr>
            <a:r>
              <a:rPr lang="en-US" sz="1050" dirty="0">
                <a:solidFill>
                  <a:srgbClr val="5B6070"/>
                </a:solidFill>
                <a:latin typeface="Calibri" pitchFamily="34" charset="0"/>
                <a:ea typeface="Calibri" pitchFamily="34" charset="-122"/>
                <a:cs typeface="Calibri" pitchFamily="34" charset="-120"/>
              </a:rPr>
              <a:t>Practise in a controlled, virtual setting with no live systems or real targets.</a:t>
            </a:r>
            <a:endParaRPr lang="en-US" sz="1050" dirty="0"/>
          </a:p>
        </p:txBody>
      </p:sp>
      <p:sp>
        <p:nvSpPr>
          <p:cNvPr id="29" name="Shape 22"/>
          <p:cNvSpPr/>
          <p:nvPr/>
        </p:nvSpPr>
        <p:spPr>
          <a:xfrm>
            <a:off x="6126480" y="3063240"/>
            <a:ext cx="256032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30" name="Shape 23"/>
          <p:cNvSpPr/>
          <p:nvPr/>
        </p:nvSpPr>
        <p:spPr>
          <a:xfrm>
            <a:off x="6263640" y="3200400"/>
            <a:ext cx="457200" cy="457200"/>
          </a:xfrm>
          <a:prstGeom prst="ellipse">
            <a:avLst/>
          </a:prstGeom>
          <a:solidFill>
            <a:srgbClr val="FDE7EA"/>
          </a:solidFill>
          <a:ln w="12700">
            <a:solidFill>
              <a:srgbClr val="FDE7EA"/>
            </a:solidFill>
            <a:prstDash val="solid"/>
          </a:ln>
        </p:spPr>
      </p:sp>
      <p:pic>
        <p:nvPicPr>
          <p:cNvPr id="31" name="Image 5" descr="preencoded.png">    </p:cNvPr>
          <p:cNvPicPr>
            <a:picLocks noChangeAspect="1"/>
          </p:cNvPicPr>
          <p:nvPr/>
        </p:nvPicPr>
        <p:blipFill>
          <a:blip r:embed="rId6"/>
          <a:stretch>
            <a:fillRect/>
          </a:stretch>
        </p:blipFill>
        <p:spPr>
          <a:xfrm>
            <a:off x="6377940" y="3314700"/>
            <a:ext cx="228600" cy="228600"/>
          </a:xfrm>
          <a:prstGeom prst="rect">
            <a:avLst/>
          </a:prstGeom>
        </p:spPr>
      </p:pic>
      <p:sp>
        <p:nvSpPr>
          <p:cNvPr id="32" name="Text 24"/>
          <p:cNvSpPr txBox="1"/>
          <p:nvPr/>
        </p:nvSpPr>
        <p:spPr>
          <a:xfrm>
            <a:off x="6812280" y="3200400"/>
            <a:ext cx="1783080" cy="457200"/>
          </a:xfrm>
          <a:prstGeom prst="rect">
            <a:avLst/>
          </a:prstGeom>
          <a:noFill/>
          <a:ln/>
        </p:spPr>
        <p:txBody>
          <a:bodyPr wrap="square" lIns="0" tIns="0" rIns="0" bIns="0" rtlCol="0" anchor="ctr"/>
          <a:lstStyle/>
          <a:p>
            <a:pPr indent="0" marL="0">
              <a:buNone/>
            </a:pPr>
            <a:r>
              <a:rPr lang="en-US" sz="1300" b="1" dirty="0">
                <a:solidFill>
                  <a:srgbClr val="1F2330"/>
                </a:solidFill>
                <a:latin typeface="Calibri" pitchFamily="34" charset="0"/>
                <a:ea typeface="Calibri" pitchFamily="34" charset="-122"/>
                <a:cs typeface="Calibri" pitchFamily="34" charset="-120"/>
              </a:rPr>
              <a:t>Complete &amp; Certify</a:t>
            </a:r>
            <a:endParaRPr lang="en-US" sz="1300" dirty="0"/>
          </a:p>
        </p:txBody>
      </p:sp>
      <p:sp>
        <p:nvSpPr>
          <p:cNvPr id="33" name="Text 25"/>
          <p:cNvSpPr txBox="1"/>
          <p:nvPr/>
        </p:nvSpPr>
        <p:spPr>
          <a:xfrm>
            <a:off x="6263640" y="3749040"/>
            <a:ext cx="2286000" cy="731520"/>
          </a:xfrm>
          <a:prstGeom prst="rect">
            <a:avLst/>
          </a:prstGeom>
          <a:noFill/>
          <a:ln/>
        </p:spPr>
        <p:txBody>
          <a:bodyPr wrap="square" lIns="0" tIns="0" rIns="0" bIns="0" rtlCol="0" anchor="t"/>
          <a:lstStyle/>
          <a:p>
            <a:pPr indent="0" marL="0">
              <a:buNone/>
            </a:pPr>
            <a:r>
              <a:rPr lang="en-US" sz="1050" dirty="0">
                <a:solidFill>
                  <a:srgbClr val="5B6070"/>
                </a:solidFill>
                <a:latin typeface="Calibri" pitchFamily="34" charset="0"/>
                <a:ea typeface="Calibri" pitchFamily="34" charset="-122"/>
                <a:cs typeface="Calibri" pitchFamily="34" charset="-120"/>
              </a:rPr>
              <a:t>Finish both practical tasks and earn the Forage Certificate of Completion.</a:t>
            </a:r>
            <a:endParaRPr lang="en-US" sz="1050" dirty="0"/>
          </a:p>
        </p:txBody>
      </p:sp>
      <p:sp>
        <p:nvSpPr>
          <p:cNvPr id="34" name="Text 26"/>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5B6070"/>
                </a:solidFill>
                <a:latin typeface="Calibri" pitchFamily="34" charset="0"/>
                <a:ea typeface="Calibri" pitchFamily="34" charset="-122"/>
                <a:cs typeface="Calibri" pitchFamily="34" charset="-120"/>
              </a:rPr>
              <a:t>Cybersecurity Job Simulation  |  Aditya Sharma</a:t>
            </a:r>
            <a:endParaRPr lang="en-US" sz="900" dirty="0"/>
          </a:p>
        </p:txBody>
      </p:sp>
      <p:sp>
        <p:nvSpPr>
          <p:cNvPr id="35" name="Text 27"/>
          <p:cNvSpPr txBox="1"/>
          <p:nvPr/>
        </p:nvSpPr>
        <p:spPr>
          <a:xfrm>
            <a:off x="8138160" y="4754880"/>
            <a:ext cx="548640" cy="228600"/>
          </a:xfrm>
          <a:prstGeom prst="rect">
            <a:avLst/>
          </a:prstGeom>
          <a:noFill/>
          <a:ln/>
        </p:spPr>
        <p:txBody>
          <a:bodyPr wrap="square" lIns="0" tIns="0" rIns="0" bIns="0" rtlCol="0" anchor="ctr"/>
          <a:lstStyle/>
          <a:p>
            <a:pPr algn="r" indent="0" marL="0">
              <a:buNone/>
            </a:pPr>
            <a:r>
              <a:rPr lang="en-US" sz="900" dirty="0">
                <a:solidFill>
                  <a:srgbClr val="5B6070"/>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400" kern="0" dirty="0">
                <a:solidFill>
                  <a:srgbClr val="EB001B"/>
                </a:solidFill>
                <a:latin typeface="Calibri" pitchFamily="34" charset="0"/>
                <a:ea typeface="Calibri" pitchFamily="34" charset="-122"/>
                <a:cs typeface="Calibri" pitchFamily="34" charset="-120"/>
              </a:rPr>
              <a:t>CONCEPTS &amp; TOOLS</a:t>
            </a:r>
            <a:endParaRPr lang="en-US" sz="1100" dirty="0"/>
          </a:p>
        </p:txBody>
      </p:sp>
      <p:sp>
        <p:nvSpPr>
          <p:cNvPr id="3" name="Text 1"/>
          <p:cNvSpPr txBox="1"/>
          <p:nvPr/>
        </p:nvSpPr>
        <p:spPr>
          <a:xfrm>
            <a:off x="457200" y="594360"/>
            <a:ext cx="8229600" cy="640080"/>
          </a:xfrm>
          <a:prstGeom prst="rect">
            <a:avLst/>
          </a:prstGeom>
          <a:noFill/>
          <a:ln/>
        </p:spPr>
        <p:txBody>
          <a:bodyPr wrap="square" lIns="0" tIns="0" rIns="0" bIns="0" rtlCol="0" anchor="ctr"/>
          <a:lstStyle/>
          <a:p>
            <a:pPr indent="0" marL="0">
              <a:buNone/>
            </a:pPr>
            <a:r>
              <a:rPr lang="en-US" sz="3000" b="1" dirty="0">
                <a:solidFill>
                  <a:srgbClr val="1F2330"/>
                </a:solidFill>
                <a:latin typeface="Cambria" pitchFamily="34" charset="0"/>
                <a:ea typeface="Cambria" pitchFamily="34" charset="-122"/>
                <a:cs typeface="Cambria" pitchFamily="34" charset="-120"/>
              </a:rPr>
              <a:t>The Ideas Behind the Simulation</a:t>
            </a:r>
            <a:endParaRPr lang="en-US" sz="3000" dirty="0"/>
          </a:p>
        </p:txBody>
      </p:sp>
      <p:sp>
        <p:nvSpPr>
          <p:cNvPr id="4" name="Shape 2"/>
          <p:cNvSpPr/>
          <p:nvPr/>
        </p:nvSpPr>
        <p:spPr>
          <a:xfrm>
            <a:off x="457200" y="1417320"/>
            <a:ext cx="1920240" cy="1417320"/>
          </a:xfrm>
          <a:prstGeom prst="roundRect">
            <a:avLst>
              <a:gd name="adj" fmla="val 5161"/>
            </a:avLst>
          </a:prstGeom>
          <a:solidFill>
            <a:srgbClr val="F3F4F7"/>
          </a:solidFill>
          <a:ln w="12700">
            <a:solidFill>
              <a:srgbClr val="F3F4F7"/>
            </a:solidFill>
            <a:prstDash val="solid"/>
          </a:ln>
        </p:spPr>
      </p:sp>
      <p:sp>
        <p:nvSpPr>
          <p:cNvPr id="5" name="Shape 3"/>
          <p:cNvSpPr/>
          <p:nvPr/>
        </p:nvSpPr>
        <p:spPr>
          <a:xfrm>
            <a:off x="1115568" y="1554480"/>
            <a:ext cx="548640" cy="5486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252728" y="1691640"/>
            <a:ext cx="274320" cy="274320"/>
          </a:xfrm>
          <a:prstGeom prst="rect">
            <a:avLst/>
          </a:prstGeom>
        </p:spPr>
      </p:pic>
      <p:sp>
        <p:nvSpPr>
          <p:cNvPr id="7" name="Text 4"/>
          <p:cNvSpPr txBox="1"/>
          <p:nvPr/>
        </p:nvSpPr>
        <p:spPr>
          <a:xfrm>
            <a:off x="502920" y="2194560"/>
            <a:ext cx="1828800" cy="274320"/>
          </a:xfrm>
          <a:prstGeom prst="rect">
            <a:avLst/>
          </a:prstGeom>
          <a:noFill/>
          <a:ln/>
        </p:spPr>
        <p:txBody>
          <a:bodyPr wrap="square" lIns="0" tIns="0" rIns="0" bIns="0" rtlCol="0" anchor="ctr"/>
          <a:lstStyle/>
          <a:p>
            <a:pPr algn="ctr" indent="0" marL="0">
              <a:buNone/>
            </a:pPr>
            <a:r>
              <a:rPr lang="en-US" sz="1200" b="1" dirty="0">
                <a:solidFill>
                  <a:srgbClr val="1F2330"/>
                </a:solidFill>
                <a:latin typeface="Calibri" pitchFamily="34" charset="0"/>
                <a:ea typeface="Calibri" pitchFamily="34" charset="-122"/>
                <a:cs typeface="Calibri" pitchFamily="34" charset="-120"/>
              </a:rPr>
              <a:t>Forage Platform</a:t>
            </a:r>
            <a:endParaRPr lang="en-US" sz="1200" dirty="0"/>
          </a:p>
        </p:txBody>
      </p:sp>
      <p:sp>
        <p:nvSpPr>
          <p:cNvPr id="8" name="Text 5"/>
          <p:cNvSpPr txBox="1"/>
          <p:nvPr/>
        </p:nvSpPr>
        <p:spPr>
          <a:xfrm>
            <a:off x="502920" y="2468880"/>
            <a:ext cx="1828800" cy="256032"/>
          </a:xfrm>
          <a:prstGeom prst="rect">
            <a:avLst/>
          </a:prstGeom>
          <a:noFill/>
          <a:ln/>
        </p:spPr>
        <p:txBody>
          <a:bodyPr wrap="square" lIns="0" tIns="0" rIns="0" bIns="0" rtlCol="0" anchor="ctr"/>
          <a:lstStyle/>
          <a:p>
            <a:pPr algn="ctr" indent="0" marL="0">
              <a:buNone/>
            </a:pPr>
            <a:r>
              <a:rPr lang="en-US" sz="1000" dirty="0">
                <a:solidFill>
                  <a:srgbClr val="5B6070"/>
                </a:solidFill>
                <a:latin typeface="Calibri" pitchFamily="34" charset="0"/>
                <a:ea typeface="Calibri" pitchFamily="34" charset="-122"/>
                <a:cs typeface="Calibri" pitchFamily="34" charset="-120"/>
              </a:rPr>
              <a:t>Virtual job simulation</a:t>
            </a:r>
            <a:endParaRPr lang="en-US" sz="1000" dirty="0"/>
          </a:p>
        </p:txBody>
      </p:sp>
      <p:sp>
        <p:nvSpPr>
          <p:cNvPr id="9" name="Shape 6"/>
          <p:cNvSpPr/>
          <p:nvPr/>
        </p:nvSpPr>
        <p:spPr>
          <a:xfrm>
            <a:off x="2560320" y="1417320"/>
            <a:ext cx="1920240" cy="1417320"/>
          </a:xfrm>
          <a:prstGeom prst="roundRect">
            <a:avLst>
              <a:gd name="adj" fmla="val 5161"/>
            </a:avLst>
          </a:prstGeom>
          <a:solidFill>
            <a:srgbClr val="F3F4F7"/>
          </a:solidFill>
          <a:ln w="12700">
            <a:solidFill>
              <a:srgbClr val="F3F4F7"/>
            </a:solidFill>
            <a:prstDash val="solid"/>
          </a:ln>
        </p:spPr>
      </p:sp>
      <p:sp>
        <p:nvSpPr>
          <p:cNvPr id="10" name="Shape 7"/>
          <p:cNvSpPr/>
          <p:nvPr/>
        </p:nvSpPr>
        <p:spPr>
          <a:xfrm>
            <a:off x="3218688" y="1554480"/>
            <a:ext cx="548640" cy="54864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355848" y="1691640"/>
            <a:ext cx="274320" cy="274320"/>
          </a:xfrm>
          <a:prstGeom prst="rect">
            <a:avLst/>
          </a:prstGeom>
        </p:spPr>
      </p:pic>
      <p:sp>
        <p:nvSpPr>
          <p:cNvPr id="12" name="Text 8"/>
          <p:cNvSpPr txBox="1"/>
          <p:nvPr/>
        </p:nvSpPr>
        <p:spPr>
          <a:xfrm>
            <a:off x="2606040" y="2194560"/>
            <a:ext cx="1828800" cy="274320"/>
          </a:xfrm>
          <a:prstGeom prst="rect">
            <a:avLst/>
          </a:prstGeom>
          <a:noFill/>
          <a:ln/>
        </p:spPr>
        <p:txBody>
          <a:bodyPr wrap="square" lIns="0" tIns="0" rIns="0" bIns="0" rtlCol="0" anchor="ctr"/>
          <a:lstStyle/>
          <a:p>
            <a:pPr algn="ctr" indent="0" marL="0">
              <a:buNone/>
            </a:pPr>
            <a:r>
              <a:rPr lang="en-US" sz="1200" b="1" dirty="0">
                <a:solidFill>
                  <a:srgbClr val="1F2330"/>
                </a:solidFill>
                <a:latin typeface="Calibri" pitchFamily="34" charset="0"/>
                <a:ea typeface="Calibri" pitchFamily="34" charset="-122"/>
                <a:cs typeface="Calibri" pitchFamily="34" charset="-120"/>
              </a:rPr>
              <a:t>Phishing</a:t>
            </a:r>
            <a:endParaRPr lang="en-US" sz="1200" dirty="0"/>
          </a:p>
        </p:txBody>
      </p:sp>
      <p:sp>
        <p:nvSpPr>
          <p:cNvPr id="13" name="Text 9"/>
          <p:cNvSpPr txBox="1"/>
          <p:nvPr/>
        </p:nvSpPr>
        <p:spPr>
          <a:xfrm>
            <a:off x="2606040" y="2468880"/>
            <a:ext cx="1828800" cy="256032"/>
          </a:xfrm>
          <a:prstGeom prst="rect">
            <a:avLst/>
          </a:prstGeom>
          <a:noFill/>
          <a:ln/>
        </p:spPr>
        <p:txBody>
          <a:bodyPr wrap="square" lIns="0" tIns="0" rIns="0" bIns="0" rtlCol="0" anchor="ctr"/>
          <a:lstStyle/>
          <a:p>
            <a:pPr algn="ctr" indent="0" marL="0">
              <a:buNone/>
            </a:pPr>
            <a:r>
              <a:rPr lang="en-US" sz="1000" dirty="0">
                <a:solidFill>
                  <a:srgbClr val="5B6070"/>
                </a:solidFill>
                <a:latin typeface="Calibri" pitchFamily="34" charset="0"/>
                <a:ea typeface="Calibri" pitchFamily="34" charset="-122"/>
                <a:cs typeface="Calibri" pitchFamily="34" charset="-120"/>
              </a:rPr>
              <a:t>Social engineering by email</a:t>
            </a:r>
            <a:endParaRPr lang="en-US" sz="1000" dirty="0"/>
          </a:p>
        </p:txBody>
      </p:sp>
      <p:sp>
        <p:nvSpPr>
          <p:cNvPr id="14" name="Shape 10"/>
          <p:cNvSpPr/>
          <p:nvPr/>
        </p:nvSpPr>
        <p:spPr>
          <a:xfrm>
            <a:off x="4663440" y="1417320"/>
            <a:ext cx="1920240" cy="1417320"/>
          </a:xfrm>
          <a:prstGeom prst="roundRect">
            <a:avLst>
              <a:gd name="adj" fmla="val 5161"/>
            </a:avLst>
          </a:prstGeom>
          <a:solidFill>
            <a:srgbClr val="F3F4F7"/>
          </a:solidFill>
          <a:ln w="12700">
            <a:solidFill>
              <a:srgbClr val="F3F4F7"/>
            </a:solidFill>
            <a:prstDash val="solid"/>
          </a:ln>
        </p:spPr>
      </p:sp>
      <p:sp>
        <p:nvSpPr>
          <p:cNvPr id="15" name="Shape 11"/>
          <p:cNvSpPr/>
          <p:nvPr/>
        </p:nvSpPr>
        <p:spPr>
          <a:xfrm>
            <a:off x="5321808" y="1554480"/>
            <a:ext cx="548640" cy="54864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5458968" y="1691640"/>
            <a:ext cx="274320" cy="274320"/>
          </a:xfrm>
          <a:prstGeom prst="rect">
            <a:avLst/>
          </a:prstGeom>
        </p:spPr>
      </p:pic>
      <p:sp>
        <p:nvSpPr>
          <p:cNvPr id="17" name="Text 12"/>
          <p:cNvSpPr txBox="1"/>
          <p:nvPr/>
        </p:nvSpPr>
        <p:spPr>
          <a:xfrm>
            <a:off x="4709160" y="2194560"/>
            <a:ext cx="1828800" cy="274320"/>
          </a:xfrm>
          <a:prstGeom prst="rect">
            <a:avLst/>
          </a:prstGeom>
          <a:noFill/>
          <a:ln/>
        </p:spPr>
        <p:txBody>
          <a:bodyPr wrap="square" lIns="0" tIns="0" rIns="0" bIns="0" rtlCol="0" anchor="ctr"/>
          <a:lstStyle/>
          <a:p>
            <a:pPr algn="ctr" indent="0" marL="0">
              <a:buNone/>
            </a:pPr>
            <a:r>
              <a:rPr lang="en-US" sz="1200" b="1" dirty="0">
                <a:solidFill>
                  <a:srgbClr val="1F2330"/>
                </a:solidFill>
                <a:latin typeface="Calibri" pitchFamily="34" charset="0"/>
                <a:ea typeface="Calibri" pitchFamily="34" charset="-122"/>
                <a:cs typeface="Calibri" pitchFamily="34" charset="-120"/>
              </a:rPr>
              <a:t>Spoofed Senders</a:t>
            </a:r>
            <a:endParaRPr lang="en-US" sz="1200" dirty="0"/>
          </a:p>
        </p:txBody>
      </p:sp>
      <p:sp>
        <p:nvSpPr>
          <p:cNvPr id="18" name="Text 13"/>
          <p:cNvSpPr txBox="1"/>
          <p:nvPr/>
        </p:nvSpPr>
        <p:spPr>
          <a:xfrm>
            <a:off x="4709160" y="2468880"/>
            <a:ext cx="1828800" cy="256032"/>
          </a:xfrm>
          <a:prstGeom prst="rect">
            <a:avLst/>
          </a:prstGeom>
          <a:noFill/>
          <a:ln/>
        </p:spPr>
        <p:txBody>
          <a:bodyPr wrap="square" lIns="0" tIns="0" rIns="0" bIns="0" rtlCol="0" anchor="ctr"/>
          <a:lstStyle/>
          <a:p>
            <a:pPr algn="ctr" indent="0" marL="0">
              <a:buNone/>
            </a:pPr>
            <a:r>
              <a:rPr lang="en-US" sz="1000" dirty="0">
                <a:solidFill>
                  <a:srgbClr val="5B6070"/>
                </a:solidFill>
                <a:latin typeface="Calibri" pitchFamily="34" charset="0"/>
                <a:ea typeface="Calibri" pitchFamily="34" charset="-122"/>
                <a:cs typeface="Calibri" pitchFamily="34" charset="-120"/>
              </a:rPr>
              <a:t>Look-alike identities</a:t>
            </a:r>
            <a:endParaRPr lang="en-US" sz="1000" dirty="0"/>
          </a:p>
        </p:txBody>
      </p:sp>
      <p:sp>
        <p:nvSpPr>
          <p:cNvPr id="19" name="Shape 14"/>
          <p:cNvSpPr/>
          <p:nvPr/>
        </p:nvSpPr>
        <p:spPr>
          <a:xfrm>
            <a:off x="6766560" y="1417320"/>
            <a:ext cx="1920240" cy="1417320"/>
          </a:xfrm>
          <a:prstGeom prst="roundRect">
            <a:avLst>
              <a:gd name="adj" fmla="val 5161"/>
            </a:avLst>
          </a:prstGeom>
          <a:solidFill>
            <a:srgbClr val="F3F4F7"/>
          </a:solidFill>
          <a:ln w="12700">
            <a:solidFill>
              <a:srgbClr val="F3F4F7"/>
            </a:solidFill>
            <a:prstDash val="solid"/>
          </a:ln>
        </p:spPr>
      </p:sp>
      <p:sp>
        <p:nvSpPr>
          <p:cNvPr id="20" name="Shape 15"/>
          <p:cNvSpPr/>
          <p:nvPr/>
        </p:nvSpPr>
        <p:spPr>
          <a:xfrm>
            <a:off x="7424928" y="1554480"/>
            <a:ext cx="548640" cy="548640"/>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562088" y="1691640"/>
            <a:ext cx="274320" cy="274320"/>
          </a:xfrm>
          <a:prstGeom prst="rect">
            <a:avLst/>
          </a:prstGeom>
        </p:spPr>
      </p:pic>
      <p:sp>
        <p:nvSpPr>
          <p:cNvPr id="22" name="Text 16"/>
          <p:cNvSpPr txBox="1"/>
          <p:nvPr/>
        </p:nvSpPr>
        <p:spPr>
          <a:xfrm>
            <a:off x="6812280" y="2194560"/>
            <a:ext cx="1828800" cy="274320"/>
          </a:xfrm>
          <a:prstGeom prst="rect">
            <a:avLst/>
          </a:prstGeom>
          <a:noFill/>
          <a:ln/>
        </p:spPr>
        <p:txBody>
          <a:bodyPr wrap="square" lIns="0" tIns="0" rIns="0" bIns="0" rtlCol="0" anchor="ctr"/>
          <a:lstStyle/>
          <a:p>
            <a:pPr algn="ctr" indent="0" marL="0">
              <a:buNone/>
            </a:pPr>
            <a:r>
              <a:rPr lang="en-US" sz="1200" b="1" dirty="0">
                <a:solidFill>
                  <a:srgbClr val="1F2330"/>
                </a:solidFill>
                <a:latin typeface="Calibri" pitchFamily="34" charset="0"/>
                <a:ea typeface="Calibri" pitchFamily="34" charset="-122"/>
                <a:cs typeface="Calibri" pitchFamily="34" charset="-120"/>
              </a:rPr>
              <a:t>Urgency Tactics</a:t>
            </a:r>
            <a:endParaRPr lang="en-US" sz="1200" dirty="0"/>
          </a:p>
        </p:txBody>
      </p:sp>
      <p:sp>
        <p:nvSpPr>
          <p:cNvPr id="23" name="Text 17"/>
          <p:cNvSpPr txBox="1"/>
          <p:nvPr/>
        </p:nvSpPr>
        <p:spPr>
          <a:xfrm>
            <a:off x="6812280" y="2468880"/>
            <a:ext cx="1828800" cy="256032"/>
          </a:xfrm>
          <a:prstGeom prst="rect">
            <a:avLst/>
          </a:prstGeom>
          <a:noFill/>
          <a:ln/>
        </p:spPr>
        <p:txBody>
          <a:bodyPr wrap="square" lIns="0" tIns="0" rIns="0" bIns="0" rtlCol="0" anchor="ctr"/>
          <a:lstStyle/>
          <a:p>
            <a:pPr algn="ctr" indent="0" marL="0">
              <a:buNone/>
            </a:pPr>
            <a:r>
              <a:rPr lang="en-US" sz="1000" dirty="0">
                <a:solidFill>
                  <a:srgbClr val="5B6070"/>
                </a:solidFill>
                <a:latin typeface="Calibri" pitchFamily="34" charset="0"/>
                <a:ea typeface="Calibri" pitchFamily="34" charset="-122"/>
                <a:cs typeface="Calibri" pitchFamily="34" charset="-120"/>
              </a:rPr>
              <a:t>Pressure to act fast</a:t>
            </a:r>
            <a:endParaRPr lang="en-US" sz="1000" dirty="0"/>
          </a:p>
        </p:txBody>
      </p:sp>
      <p:sp>
        <p:nvSpPr>
          <p:cNvPr id="24" name="Shape 18"/>
          <p:cNvSpPr/>
          <p:nvPr/>
        </p:nvSpPr>
        <p:spPr>
          <a:xfrm>
            <a:off x="457200" y="3017520"/>
            <a:ext cx="1920240" cy="1417320"/>
          </a:xfrm>
          <a:prstGeom prst="roundRect">
            <a:avLst>
              <a:gd name="adj" fmla="val 5161"/>
            </a:avLst>
          </a:prstGeom>
          <a:solidFill>
            <a:srgbClr val="F3F4F7"/>
          </a:solidFill>
          <a:ln w="12700">
            <a:solidFill>
              <a:srgbClr val="F3F4F7"/>
            </a:solidFill>
            <a:prstDash val="solid"/>
          </a:ln>
        </p:spPr>
      </p:sp>
      <p:sp>
        <p:nvSpPr>
          <p:cNvPr id="25" name="Shape 19"/>
          <p:cNvSpPr/>
          <p:nvPr/>
        </p:nvSpPr>
        <p:spPr>
          <a:xfrm>
            <a:off x="1115568" y="3154680"/>
            <a:ext cx="548640" cy="548640"/>
          </a:xfrm>
          <a:prstGeom prst="ellipse">
            <a:avLst/>
          </a:prstGeom>
          <a:solidFill>
            <a:srgbClr val="FFFFFF"/>
          </a:solidFill>
          <a:ln w="12700">
            <a:solidFill>
              <a:srgbClr val="FFFFFF"/>
            </a:solidFill>
            <a:prstDash val="solid"/>
          </a:ln>
        </p:spPr>
      </p:sp>
      <p:pic>
        <p:nvPicPr>
          <p:cNvPr id="26" name="Image 4" descr="preencoded.png">    </p:cNvPr>
          <p:cNvPicPr>
            <a:picLocks noChangeAspect="1"/>
          </p:cNvPicPr>
          <p:nvPr/>
        </p:nvPicPr>
        <p:blipFill>
          <a:blip r:embed="rId5"/>
          <a:stretch>
            <a:fillRect/>
          </a:stretch>
        </p:blipFill>
        <p:spPr>
          <a:xfrm>
            <a:off x="1252728" y="3291840"/>
            <a:ext cx="274320" cy="274320"/>
          </a:xfrm>
          <a:prstGeom prst="rect">
            <a:avLst/>
          </a:prstGeom>
        </p:spPr>
      </p:pic>
      <p:sp>
        <p:nvSpPr>
          <p:cNvPr id="27" name="Text 20"/>
          <p:cNvSpPr txBox="1"/>
          <p:nvPr/>
        </p:nvSpPr>
        <p:spPr>
          <a:xfrm>
            <a:off x="502920" y="3794760"/>
            <a:ext cx="1828800" cy="274320"/>
          </a:xfrm>
          <a:prstGeom prst="rect">
            <a:avLst/>
          </a:prstGeom>
          <a:noFill/>
          <a:ln/>
        </p:spPr>
        <p:txBody>
          <a:bodyPr wrap="square" lIns="0" tIns="0" rIns="0" bIns="0" rtlCol="0" anchor="ctr"/>
          <a:lstStyle/>
          <a:p>
            <a:pPr algn="ctr" indent="0" marL="0">
              <a:buNone/>
            </a:pPr>
            <a:r>
              <a:rPr lang="en-US" sz="1200" b="1" dirty="0">
                <a:solidFill>
                  <a:srgbClr val="1F2330"/>
                </a:solidFill>
                <a:latin typeface="Calibri" pitchFamily="34" charset="0"/>
                <a:ea typeface="Calibri" pitchFamily="34" charset="-122"/>
                <a:cs typeface="Calibri" pitchFamily="34" charset="-120"/>
              </a:rPr>
              <a:t>Suspicious Links</a:t>
            </a:r>
            <a:endParaRPr lang="en-US" sz="1200" dirty="0"/>
          </a:p>
        </p:txBody>
      </p:sp>
      <p:sp>
        <p:nvSpPr>
          <p:cNvPr id="28" name="Text 21"/>
          <p:cNvSpPr txBox="1"/>
          <p:nvPr/>
        </p:nvSpPr>
        <p:spPr>
          <a:xfrm>
            <a:off x="502920" y="4069080"/>
            <a:ext cx="1828800" cy="256032"/>
          </a:xfrm>
          <a:prstGeom prst="rect">
            <a:avLst/>
          </a:prstGeom>
          <a:noFill/>
          <a:ln/>
        </p:spPr>
        <p:txBody>
          <a:bodyPr wrap="square" lIns="0" tIns="0" rIns="0" bIns="0" rtlCol="0" anchor="ctr"/>
          <a:lstStyle/>
          <a:p>
            <a:pPr algn="ctr" indent="0" marL="0">
              <a:buNone/>
            </a:pPr>
            <a:r>
              <a:rPr lang="en-US" sz="1000" dirty="0">
                <a:solidFill>
                  <a:srgbClr val="5B6070"/>
                </a:solidFill>
                <a:latin typeface="Calibri" pitchFamily="34" charset="0"/>
                <a:ea typeface="Calibri" pitchFamily="34" charset="-122"/>
                <a:cs typeface="Calibri" pitchFamily="34" charset="-120"/>
              </a:rPr>
              <a:t>Risky links &amp; attachments</a:t>
            </a:r>
            <a:endParaRPr lang="en-US" sz="1000" dirty="0"/>
          </a:p>
        </p:txBody>
      </p:sp>
      <p:sp>
        <p:nvSpPr>
          <p:cNvPr id="29" name="Shape 22"/>
          <p:cNvSpPr/>
          <p:nvPr/>
        </p:nvSpPr>
        <p:spPr>
          <a:xfrm>
            <a:off x="2560320" y="3017520"/>
            <a:ext cx="1920240" cy="1417320"/>
          </a:xfrm>
          <a:prstGeom prst="roundRect">
            <a:avLst>
              <a:gd name="adj" fmla="val 5161"/>
            </a:avLst>
          </a:prstGeom>
          <a:solidFill>
            <a:srgbClr val="F3F4F7"/>
          </a:solidFill>
          <a:ln w="12700">
            <a:solidFill>
              <a:srgbClr val="F3F4F7"/>
            </a:solidFill>
            <a:prstDash val="solid"/>
          </a:ln>
        </p:spPr>
      </p:sp>
      <p:sp>
        <p:nvSpPr>
          <p:cNvPr id="30" name="Shape 23"/>
          <p:cNvSpPr/>
          <p:nvPr/>
        </p:nvSpPr>
        <p:spPr>
          <a:xfrm>
            <a:off x="3218688" y="3154680"/>
            <a:ext cx="548640" cy="548640"/>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3355848" y="3291840"/>
            <a:ext cx="274320" cy="274320"/>
          </a:xfrm>
          <a:prstGeom prst="rect">
            <a:avLst/>
          </a:prstGeom>
        </p:spPr>
      </p:pic>
      <p:sp>
        <p:nvSpPr>
          <p:cNvPr id="32" name="Text 24"/>
          <p:cNvSpPr txBox="1"/>
          <p:nvPr/>
        </p:nvSpPr>
        <p:spPr>
          <a:xfrm>
            <a:off x="2606040" y="3794760"/>
            <a:ext cx="1828800" cy="274320"/>
          </a:xfrm>
          <a:prstGeom prst="rect">
            <a:avLst/>
          </a:prstGeom>
          <a:noFill/>
          <a:ln/>
        </p:spPr>
        <p:txBody>
          <a:bodyPr wrap="square" lIns="0" tIns="0" rIns="0" bIns="0" rtlCol="0" anchor="ctr"/>
          <a:lstStyle/>
          <a:p>
            <a:pPr algn="ctr" indent="0" marL="0">
              <a:buNone/>
            </a:pPr>
            <a:r>
              <a:rPr lang="en-US" sz="1200" b="1" dirty="0">
                <a:solidFill>
                  <a:srgbClr val="1F2330"/>
                </a:solidFill>
                <a:latin typeface="Calibri" pitchFamily="34" charset="0"/>
                <a:ea typeface="Calibri" pitchFamily="34" charset="-122"/>
                <a:cs typeface="Calibri" pitchFamily="34" charset="-120"/>
              </a:rPr>
              <a:t>Click Rate</a:t>
            </a:r>
            <a:endParaRPr lang="en-US" sz="1200" dirty="0"/>
          </a:p>
        </p:txBody>
      </p:sp>
      <p:sp>
        <p:nvSpPr>
          <p:cNvPr id="33" name="Text 25"/>
          <p:cNvSpPr txBox="1"/>
          <p:nvPr/>
        </p:nvSpPr>
        <p:spPr>
          <a:xfrm>
            <a:off x="2606040" y="4069080"/>
            <a:ext cx="1828800" cy="256032"/>
          </a:xfrm>
          <a:prstGeom prst="rect">
            <a:avLst/>
          </a:prstGeom>
          <a:noFill/>
          <a:ln/>
        </p:spPr>
        <p:txBody>
          <a:bodyPr wrap="square" lIns="0" tIns="0" rIns="0" bIns="0" rtlCol="0" anchor="ctr"/>
          <a:lstStyle/>
          <a:p>
            <a:pPr algn="ctr" indent="0" marL="0">
              <a:buNone/>
            </a:pPr>
            <a:r>
              <a:rPr lang="en-US" sz="1000" dirty="0">
                <a:solidFill>
                  <a:srgbClr val="5B6070"/>
                </a:solidFill>
                <a:latin typeface="Calibri" pitchFamily="34" charset="0"/>
                <a:ea typeface="Calibri" pitchFamily="34" charset="-122"/>
                <a:cs typeface="Calibri" pitchFamily="34" charset="-120"/>
              </a:rPr>
              <a:t>Who clicked the lure</a:t>
            </a:r>
            <a:endParaRPr lang="en-US" sz="1000" dirty="0"/>
          </a:p>
        </p:txBody>
      </p:sp>
      <p:sp>
        <p:nvSpPr>
          <p:cNvPr id="34" name="Shape 26"/>
          <p:cNvSpPr/>
          <p:nvPr/>
        </p:nvSpPr>
        <p:spPr>
          <a:xfrm>
            <a:off x="4663440" y="3017520"/>
            <a:ext cx="1920240" cy="1417320"/>
          </a:xfrm>
          <a:prstGeom prst="roundRect">
            <a:avLst>
              <a:gd name="adj" fmla="val 5161"/>
            </a:avLst>
          </a:prstGeom>
          <a:solidFill>
            <a:srgbClr val="F3F4F7"/>
          </a:solidFill>
          <a:ln w="12700">
            <a:solidFill>
              <a:srgbClr val="F3F4F7"/>
            </a:solidFill>
            <a:prstDash val="solid"/>
          </a:ln>
        </p:spPr>
      </p:sp>
      <p:sp>
        <p:nvSpPr>
          <p:cNvPr id="35" name="Shape 27"/>
          <p:cNvSpPr/>
          <p:nvPr/>
        </p:nvSpPr>
        <p:spPr>
          <a:xfrm>
            <a:off x="5321808" y="3154680"/>
            <a:ext cx="548640" cy="548640"/>
          </a:xfrm>
          <a:prstGeom prst="ellipse">
            <a:avLst/>
          </a:prstGeom>
          <a:solidFill>
            <a:srgbClr val="FFFFFF"/>
          </a:solidFill>
          <a:ln w="12700">
            <a:solidFill>
              <a:srgbClr val="FFFFFF"/>
            </a:solidFill>
            <a:prstDash val="solid"/>
          </a:ln>
        </p:spPr>
      </p:sp>
      <p:pic>
        <p:nvPicPr>
          <p:cNvPr id="36" name="Image 6" descr="preencoded.png">    </p:cNvPr>
          <p:cNvPicPr>
            <a:picLocks noChangeAspect="1"/>
          </p:cNvPicPr>
          <p:nvPr/>
        </p:nvPicPr>
        <p:blipFill>
          <a:blip r:embed="rId7"/>
          <a:stretch>
            <a:fillRect/>
          </a:stretch>
        </p:blipFill>
        <p:spPr>
          <a:xfrm>
            <a:off x="5458968" y="3291840"/>
            <a:ext cx="274320" cy="274320"/>
          </a:xfrm>
          <a:prstGeom prst="rect">
            <a:avLst/>
          </a:prstGeom>
        </p:spPr>
      </p:pic>
      <p:sp>
        <p:nvSpPr>
          <p:cNvPr id="37" name="Text 28"/>
          <p:cNvSpPr txBox="1"/>
          <p:nvPr/>
        </p:nvSpPr>
        <p:spPr>
          <a:xfrm>
            <a:off x="4709160" y="3794760"/>
            <a:ext cx="1828800" cy="274320"/>
          </a:xfrm>
          <a:prstGeom prst="rect">
            <a:avLst/>
          </a:prstGeom>
          <a:noFill/>
          <a:ln/>
        </p:spPr>
        <p:txBody>
          <a:bodyPr wrap="square" lIns="0" tIns="0" rIns="0" bIns="0" rtlCol="0" anchor="ctr"/>
          <a:lstStyle/>
          <a:p>
            <a:pPr algn="ctr" indent="0" marL="0">
              <a:buNone/>
            </a:pPr>
            <a:r>
              <a:rPr lang="en-US" sz="1200" b="1" dirty="0">
                <a:solidFill>
                  <a:srgbClr val="1F2330"/>
                </a:solidFill>
                <a:latin typeface="Calibri" pitchFamily="34" charset="0"/>
                <a:ea typeface="Calibri" pitchFamily="34" charset="-122"/>
                <a:cs typeface="Calibri" pitchFamily="34" charset="-120"/>
              </a:rPr>
              <a:t>Report Rate</a:t>
            </a:r>
            <a:endParaRPr lang="en-US" sz="1200" dirty="0"/>
          </a:p>
        </p:txBody>
      </p:sp>
      <p:sp>
        <p:nvSpPr>
          <p:cNvPr id="38" name="Text 29"/>
          <p:cNvSpPr txBox="1"/>
          <p:nvPr/>
        </p:nvSpPr>
        <p:spPr>
          <a:xfrm>
            <a:off x="4709160" y="4069080"/>
            <a:ext cx="1828800" cy="256032"/>
          </a:xfrm>
          <a:prstGeom prst="rect">
            <a:avLst/>
          </a:prstGeom>
          <a:noFill/>
          <a:ln/>
        </p:spPr>
        <p:txBody>
          <a:bodyPr wrap="square" lIns="0" tIns="0" rIns="0" bIns="0" rtlCol="0" anchor="ctr"/>
          <a:lstStyle/>
          <a:p>
            <a:pPr algn="ctr" indent="0" marL="0">
              <a:buNone/>
            </a:pPr>
            <a:r>
              <a:rPr lang="en-US" sz="1000" dirty="0">
                <a:solidFill>
                  <a:srgbClr val="5B6070"/>
                </a:solidFill>
                <a:latin typeface="Calibri" pitchFamily="34" charset="0"/>
                <a:ea typeface="Calibri" pitchFamily="34" charset="-122"/>
                <a:cs typeface="Calibri" pitchFamily="34" charset="-120"/>
              </a:rPr>
              <a:t>Who reported the email</a:t>
            </a:r>
            <a:endParaRPr lang="en-US" sz="1000" dirty="0"/>
          </a:p>
        </p:txBody>
      </p:sp>
      <p:sp>
        <p:nvSpPr>
          <p:cNvPr id="39" name="Shape 30"/>
          <p:cNvSpPr/>
          <p:nvPr/>
        </p:nvSpPr>
        <p:spPr>
          <a:xfrm>
            <a:off x="6766560" y="3017520"/>
            <a:ext cx="1920240" cy="1417320"/>
          </a:xfrm>
          <a:prstGeom prst="roundRect">
            <a:avLst>
              <a:gd name="adj" fmla="val 5161"/>
            </a:avLst>
          </a:prstGeom>
          <a:solidFill>
            <a:srgbClr val="F3F4F7"/>
          </a:solidFill>
          <a:ln w="12700">
            <a:solidFill>
              <a:srgbClr val="F3F4F7"/>
            </a:solidFill>
            <a:prstDash val="solid"/>
          </a:ln>
        </p:spPr>
      </p:sp>
      <p:sp>
        <p:nvSpPr>
          <p:cNvPr id="40" name="Shape 31"/>
          <p:cNvSpPr/>
          <p:nvPr/>
        </p:nvSpPr>
        <p:spPr>
          <a:xfrm>
            <a:off x="7424928" y="3154680"/>
            <a:ext cx="548640" cy="548640"/>
          </a:xfrm>
          <a:prstGeom prst="ellipse">
            <a:avLst/>
          </a:prstGeom>
          <a:solidFill>
            <a:srgbClr val="FFFFFF"/>
          </a:solidFill>
          <a:ln w="12700">
            <a:solidFill>
              <a:srgbClr val="FFFFFF"/>
            </a:solidFill>
            <a:prstDash val="solid"/>
          </a:ln>
        </p:spPr>
      </p:sp>
      <p:pic>
        <p:nvPicPr>
          <p:cNvPr id="41" name="Image 7" descr="preencoded.png">    </p:cNvPr>
          <p:cNvPicPr>
            <a:picLocks noChangeAspect="1"/>
          </p:cNvPicPr>
          <p:nvPr/>
        </p:nvPicPr>
        <p:blipFill>
          <a:blip r:embed="rId8"/>
          <a:stretch>
            <a:fillRect/>
          </a:stretch>
        </p:blipFill>
        <p:spPr>
          <a:xfrm>
            <a:off x="7562088" y="3291840"/>
            <a:ext cx="274320" cy="274320"/>
          </a:xfrm>
          <a:prstGeom prst="rect">
            <a:avLst/>
          </a:prstGeom>
        </p:spPr>
      </p:pic>
      <p:sp>
        <p:nvSpPr>
          <p:cNvPr id="42" name="Text 32"/>
          <p:cNvSpPr txBox="1"/>
          <p:nvPr/>
        </p:nvSpPr>
        <p:spPr>
          <a:xfrm>
            <a:off x="6812280" y="3794760"/>
            <a:ext cx="1828800" cy="274320"/>
          </a:xfrm>
          <a:prstGeom prst="rect">
            <a:avLst/>
          </a:prstGeom>
          <a:noFill/>
          <a:ln/>
        </p:spPr>
        <p:txBody>
          <a:bodyPr wrap="square" lIns="0" tIns="0" rIns="0" bIns="0" rtlCol="0" anchor="ctr"/>
          <a:lstStyle/>
          <a:p>
            <a:pPr algn="ctr" indent="0" marL="0">
              <a:buNone/>
            </a:pPr>
            <a:r>
              <a:rPr lang="en-US" sz="1200" b="1" dirty="0">
                <a:solidFill>
                  <a:srgbClr val="1F2330"/>
                </a:solidFill>
                <a:latin typeface="Calibri" pitchFamily="34" charset="0"/>
                <a:ea typeface="Calibri" pitchFamily="34" charset="-122"/>
                <a:cs typeface="Calibri" pitchFamily="34" charset="-120"/>
              </a:rPr>
              <a:t>Awareness Training</a:t>
            </a:r>
            <a:endParaRPr lang="en-US" sz="1200" dirty="0"/>
          </a:p>
        </p:txBody>
      </p:sp>
      <p:sp>
        <p:nvSpPr>
          <p:cNvPr id="43" name="Text 33"/>
          <p:cNvSpPr txBox="1"/>
          <p:nvPr/>
        </p:nvSpPr>
        <p:spPr>
          <a:xfrm>
            <a:off x="6812280" y="4069080"/>
            <a:ext cx="1828800" cy="256032"/>
          </a:xfrm>
          <a:prstGeom prst="rect">
            <a:avLst/>
          </a:prstGeom>
          <a:noFill/>
          <a:ln/>
        </p:spPr>
        <p:txBody>
          <a:bodyPr wrap="square" lIns="0" tIns="0" rIns="0" bIns="0" rtlCol="0" anchor="ctr"/>
          <a:lstStyle/>
          <a:p>
            <a:pPr algn="ctr" indent="0" marL="0">
              <a:buNone/>
            </a:pPr>
            <a:r>
              <a:rPr lang="en-US" sz="1000" dirty="0">
                <a:solidFill>
                  <a:srgbClr val="5B6070"/>
                </a:solidFill>
                <a:latin typeface="Calibri" pitchFamily="34" charset="0"/>
                <a:ea typeface="Calibri" pitchFamily="34" charset="-122"/>
                <a:cs typeface="Calibri" pitchFamily="34" charset="-120"/>
              </a:rPr>
              <a:t>Turning results into action</a:t>
            </a:r>
            <a:endParaRPr lang="en-US" sz="1000" dirty="0"/>
          </a:p>
        </p:txBody>
      </p:sp>
      <p:sp>
        <p:nvSpPr>
          <p:cNvPr id="44" name="Text 34"/>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5B6070"/>
                </a:solidFill>
                <a:latin typeface="Calibri" pitchFamily="34" charset="0"/>
                <a:ea typeface="Calibri" pitchFamily="34" charset="-122"/>
                <a:cs typeface="Calibri" pitchFamily="34" charset="-120"/>
              </a:rPr>
              <a:t>Cybersecurity Job Simulation  |  Aditya Sharma</a:t>
            </a:r>
            <a:endParaRPr lang="en-US" sz="900" dirty="0"/>
          </a:p>
        </p:txBody>
      </p:sp>
      <p:sp>
        <p:nvSpPr>
          <p:cNvPr id="45" name="Text 35"/>
          <p:cNvSpPr txBox="1"/>
          <p:nvPr/>
        </p:nvSpPr>
        <p:spPr>
          <a:xfrm>
            <a:off x="8138160" y="4754880"/>
            <a:ext cx="548640" cy="228600"/>
          </a:xfrm>
          <a:prstGeom prst="rect">
            <a:avLst/>
          </a:prstGeom>
          <a:noFill/>
          <a:ln/>
        </p:spPr>
        <p:txBody>
          <a:bodyPr wrap="square" lIns="0" tIns="0" rIns="0" bIns="0" rtlCol="0" anchor="ctr"/>
          <a:lstStyle/>
          <a:p>
            <a:pPr algn="r" indent="0" marL="0">
              <a:buNone/>
            </a:pPr>
            <a:r>
              <a:rPr lang="en-US" sz="900" dirty="0">
                <a:solidFill>
                  <a:srgbClr val="5B6070"/>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400" kern="0" dirty="0">
                <a:solidFill>
                  <a:srgbClr val="F79E1B"/>
                </a:solidFill>
                <a:latin typeface="Calibri" pitchFamily="34" charset="0"/>
                <a:ea typeface="Calibri" pitchFamily="34" charset="-122"/>
                <a:cs typeface="Calibri" pitchFamily="34" charset="-120"/>
              </a:rPr>
              <a:t>SYSTEM ARCHITECTURE</a:t>
            </a:r>
            <a:endParaRPr lang="en-US" sz="1100" dirty="0"/>
          </a:p>
        </p:txBody>
      </p:sp>
      <p:sp>
        <p:nvSpPr>
          <p:cNvPr id="3" name="Text 1"/>
          <p:cNvSpPr txBox="1"/>
          <p:nvPr/>
        </p:nvSpPr>
        <p:spPr>
          <a:xfrm>
            <a:off x="457200" y="59436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Phishing Simulation Lifecycle</a:t>
            </a:r>
            <a:endParaRPr lang="en-US" sz="3000" dirty="0"/>
          </a:p>
        </p:txBody>
      </p:sp>
      <p:sp>
        <p:nvSpPr>
          <p:cNvPr id="4" name="Shape 2"/>
          <p:cNvSpPr/>
          <p:nvPr/>
        </p:nvSpPr>
        <p:spPr>
          <a:xfrm>
            <a:off x="457200" y="1234440"/>
            <a:ext cx="8229600" cy="475488"/>
          </a:xfrm>
          <a:prstGeom prst="roundRect">
            <a:avLst>
              <a:gd name="adj" fmla="val 11538"/>
            </a:avLst>
          </a:prstGeom>
          <a:solidFill>
            <a:srgbClr val="22222C"/>
          </a:solidFill>
          <a:ln w="12700">
            <a:solidFill>
              <a:srgbClr val="22222C"/>
            </a:solidFill>
            <a:prstDash val="solid"/>
          </a:ln>
        </p:spPr>
      </p:sp>
      <p:sp>
        <p:nvSpPr>
          <p:cNvPr id="5" name="Shape 3"/>
          <p:cNvSpPr/>
          <p:nvPr/>
        </p:nvSpPr>
        <p:spPr>
          <a:xfrm>
            <a:off x="548640" y="1289304"/>
            <a:ext cx="365760" cy="365760"/>
          </a:xfrm>
          <a:prstGeom prst="ellipse">
            <a:avLst/>
          </a:prstGeom>
          <a:solidFill>
            <a:srgbClr val="33333F"/>
          </a:solidFill>
          <a:ln w="12700">
            <a:solidFill>
              <a:srgbClr val="33333F"/>
            </a:solidFill>
            <a:prstDash val="solid"/>
          </a:ln>
        </p:spPr>
      </p:sp>
      <p:pic>
        <p:nvPicPr>
          <p:cNvPr id="6" name="Image 0" descr="preencoded.png">    </p:cNvPr>
          <p:cNvPicPr>
            <a:picLocks noChangeAspect="1"/>
          </p:cNvPicPr>
          <p:nvPr/>
        </p:nvPicPr>
        <p:blipFill>
          <a:blip r:embed="rId1"/>
          <a:stretch>
            <a:fillRect/>
          </a:stretch>
        </p:blipFill>
        <p:spPr>
          <a:xfrm>
            <a:off x="640080" y="1380744"/>
            <a:ext cx="182880" cy="182880"/>
          </a:xfrm>
          <a:prstGeom prst="rect">
            <a:avLst/>
          </a:prstGeom>
        </p:spPr>
      </p:pic>
      <p:sp>
        <p:nvSpPr>
          <p:cNvPr id="7" name="Text 4"/>
          <p:cNvSpPr txBox="1"/>
          <p:nvPr/>
        </p:nvSpPr>
        <p:spPr>
          <a:xfrm>
            <a:off x="1097280" y="1234440"/>
            <a:ext cx="219456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Threat Layer</a:t>
            </a:r>
            <a:endParaRPr lang="en-US" sz="1300" dirty="0"/>
          </a:p>
        </p:txBody>
      </p:sp>
      <p:sp>
        <p:nvSpPr>
          <p:cNvPr id="8" name="Text 5"/>
          <p:cNvSpPr txBox="1"/>
          <p:nvPr/>
        </p:nvSpPr>
        <p:spPr>
          <a:xfrm>
            <a:off x="3383280" y="1234440"/>
            <a:ext cx="5120640" cy="475488"/>
          </a:xfrm>
          <a:prstGeom prst="rect">
            <a:avLst/>
          </a:prstGeom>
          <a:noFill/>
          <a:ln/>
        </p:spPr>
        <p:txBody>
          <a:bodyPr wrap="square" lIns="0" tIns="0" rIns="0" bIns="0" rtlCol="0" anchor="ctr"/>
          <a:lstStyle/>
          <a:p>
            <a:pPr indent="0" marL="0">
              <a:buNone/>
            </a:pPr>
            <a:r>
              <a:rPr lang="en-US" sz="1200" dirty="0">
                <a:solidFill>
                  <a:srgbClr val="D0D0DC"/>
                </a:solidFill>
                <a:latin typeface="Calibri" pitchFamily="34" charset="0"/>
                <a:ea typeface="Calibri" pitchFamily="34" charset="-122"/>
                <a:cs typeface="Calibri" pitchFamily="34" charset="-120"/>
              </a:rPr>
              <a:t>How attackers use phishing and who they target</a:t>
            </a:r>
            <a:endParaRPr lang="en-US" sz="1200" dirty="0"/>
          </a:p>
        </p:txBody>
      </p:sp>
      <p:sp>
        <p:nvSpPr>
          <p:cNvPr id="9" name="Shape 6"/>
          <p:cNvSpPr/>
          <p:nvPr/>
        </p:nvSpPr>
        <p:spPr>
          <a:xfrm>
            <a:off x="457200" y="1783080"/>
            <a:ext cx="8229600" cy="475488"/>
          </a:xfrm>
          <a:prstGeom prst="roundRect">
            <a:avLst>
              <a:gd name="adj" fmla="val 11538"/>
            </a:avLst>
          </a:prstGeom>
          <a:solidFill>
            <a:srgbClr val="22222C"/>
          </a:solidFill>
          <a:ln w="12700">
            <a:solidFill>
              <a:srgbClr val="22222C"/>
            </a:solidFill>
            <a:prstDash val="solid"/>
          </a:ln>
        </p:spPr>
      </p:sp>
      <p:sp>
        <p:nvSpPr>
          <p:cNvPr id="10" name="Shape 7"/>
          <p:cNvSpPr/>
          <p:nvPr/>
        </p:nvSpPr>
        <p:spPr>
          <a:xfrm>
            <a:off x="548640" y="1837944"/>
            <a:ext cx="365760" cy="365760"/>
          </a:xfrm>
          <a:prstGeom prst="ellipse">
            <a:avLst/>
          </a:prstGeom>
          <a:solidFill>
            <a:srgbClr val="33333F"/>
          </a:solidFill>
          <a:ln w="12700">
            <a:solidFill>
              <a:srgbClr val="33333F"/>
            </a:solidFill>
            <a:prstDash val="solid"/>
          </a:ln>
        </p:spPr>
      </p:sp>
      <p:pic>
        <p:nvPicPr>
          <p:cNvPr id="11" name="Image 1" descr="preencoded.png">    </p:cNvPr>
          <p:cNvPicPr>
            <a:picLocks noChangeAspect="1"/>
          </p:cNvPicPr>
          <p:nvPr/>
        </p:nvPicPr>
        <p:blipFill>
          <a:blip r:embed="rId2"/>
          <a:stretch>
            <a:fillRect/>
          </a:stretch>
        </p:blipFill>
        <p:spPr>
          <a:xfrm>
            <a:off x="640080" y="1929384"/>
            <a:ext cx="182880" cy="182880"/>
          </a:xfrm>
          <a:prstGeom prst="rect">
            <a:avLst/>
          </a:prstGeom>
        </p:spPr>
      </p:pic>
      <p:sp>
        <p:nvSpPr>
          <p:cNvPr id="12" name="Text 8"/>
          <p:cNvSpPr txBox="1"/>
          <p:nvPr/>
        </p:nvSpPr>
        <p:spPr>
          <a:xfrm>
            <a:off x="1097280" y="1783080"/>
            <a:ext cx="219456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Design Layer</a:t>
            </a:r>
            <a:endParaRPr lang="en-US" sz="1300" dirty="0"/>
          </a:p>
        </p:txBody>
      </p:sp>
      <p:sp>
        <p:nvSpPr>
          <p:cNvPr id="13" name="Text 9"/>
          <p:cNvSpPr txBox="1"/>
          <p:nvPr/>
        </p:nvSpPr>
        <p:spPr>
          <a:xfrm>
            <a:off x="3383280" y="1783080"/>
            <a:ext cx="5120640" cy="475488"/>
          </a:xfrm>
          <a:prstGeom prst="rect">
            <a:avLst/>
          </a:prstGeom>
          <a:noFill/>
          <a:ln/>
        </p:spPr>
        <p:txBody>
          <a:bodyPr wrap="square" lIns="0" tIns="0" rIns="0" bIns="0" rtlCol="0" anchor="ctr"/>
          <a:lstStyle/>
          <a:p>
            <a:pPr indent="0" marL="0">
              <a:buNone/>
            </a:pPr>
            <a:r>
              <a:rPr lang="en-US" sz="1200" dirty="0">
                <a:solidFill>
                  <a:srgbClr val="D0D0DC"/>
                </a:solidFill>
                <a:latin typeface="Calibri" pitchFamily="34" charset="0"/>
                <a:ea typeface="Calibri" pitchFamily="34" charset="-122"/>
                <a:cs typeface="Calibri" pitchFamily="34" charset="-120"/>
              </a:rPr>
              <a:t>Scenario, sender, subject, message and red flags</a:t>
            </a:r>
            <a:endParaRPr lang="en-US" sz="1200" dirty="0"/>
          </a:p>
        </p:txBody>
      </p:sp>
      <p:sp>
        <p:nvSpPr>
          <p:cNvPr id="14" name="Shape 10"/>
          <p:cNvSpPr/>
          <p:nvPr/>
        </p:nvSpPr>
        <p:spPr>
          <a:xfrm>
            <a:off x="457200" y="2331720"/>
            <a:ext cx="8229600" cy="475488"/>
          </a:xfrm>
          <a:prstGeom prst="roundRect">
            <a:avLst>
              <a:gd name="adj" fmla="val 11538"/>
            </a:avLst>
          </a:prstGeom>
          <a:solidFill>
            <a:srgbClr val="22222C"/>
          </a:solidFill>
          <a:ln w="12700">
            <a:solidFill>
              <a:srgbClr val="22222C"/>
            </a:solidFill>
            <a:prstDash val="solid"/>
          </a:ln>
        </p:spPr>
      </p:sp>
      <p:sp>
        <p:nvSpPr>
          <p:cNvPr id="15" name="Shape 11"/>
          <p:cNvSpPr/>
          <p:nvPr/>
        </p:nvSpPr>
        <p:spPr>
          <a:xfrm>
            <a:off x="548640" y="2386584"/>
            <a:ext cx="365760" cy="365760"/>
          </a:xfrm>
          <a:prstGeom prst="ellipse">
            <a:avLst/>
          </a:prstGeom>
          <a:solidFill>
            <a:srgbClr val="33333F"/>
          </a:solidFill>
          <a:ln w="12700">
            <a:solidFill>
              <a:srgbClr val="33333F"/>
            </a:solidFill>
            <a:prstDash val="solid"/>
          </a:ln>
        </p:spPr>
      </p:sp>
      <p:pic>
        <p:nvPicPr>
          <p:cNvPr id="16" name="Image 2" descr="preencoded.png">    </p:cNvPr>
          <p:cNvPicPr>
            <a:picLocks noChangeAspect="1"/>
          </p:cNvPicPr>
          <p:nvPr/>
        </p:nvPicPr>
        <p:blipFill>
          <a:blip r:embed="rId3"/>
          <a:stretch>
            <a:fillRect/>
          </a:stretch>
        </p:blipFill>
        <p:spPr>
          <a:xfrm>
            <a:off x="640080" y="2478024"/>
            <a:ext cx="182880" cy="182880"/>
          </a:xfrm>
          <a:prstGeom prst="rect">
            <a:avLst/>
          </a:prstGeom>
        </p:spPr>
      </p:pic>
      <p:sp>
        <p:nvSpPr>
          <p:cNvPr id="17" name="Text 12"/>
          <p:cNvSpPr txBox="1"/>
          <p:nvPr/>
        </p:nvSpPr>
        <p:spPr>
          <a:xfrm>
            <a:off x="1097280" y="2331720"/>
            <a:ext cx="219456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Delivery Layer</a:t>
            </a:r>
            <a:endParaRPr lang="en-US" sz="1300" dirty="0"/>
          </a:p>
        </p:txBody>
      </p:sp>
      <p:sp>
        <p:nvSpPr>
          <p:cNvPr id="18" name="Text 13"/>
          <p:cNvSpPr txBox="1"/>
          <p:nvPr/>
        </p:nvSpPr>
        <p:spPr>
          <a:xfrm>
            <a:off x="3383280" y="2331720"/>
            <a:ext cx="5120640" cy="475488"/>
          </a:xfrm>
          <a:prstGeom prst="rect">
            <a:avLst/>
          </a:prstGeom>
          <a:noFill/>
          <a:ln/>
        </p:spPr>
        <p:txBody>
          <a:bodyPr wrap="square" lIns="0" tIns="0" rIns="0" bIns="0" rtlCol="0" anchor="ctr"/>
          <a:lstStyle/>
          <a:p>
            <a:pPr indent="0" marL="0">
              <a:buNone/>
            </a:pPr>
            <a:r>
              <a:rPr lang="en-US" sz="1200" dirty="0">
                <a:solidFill>
                  <a:srgbClr val="D0D0DC"/>
                </a:solidFill>
                <a:latin typeface="Calibri" pitchFamily="34" charset="0"/>
                <a:ea typeface="Calibri" pitchFamily="34" charset="-122"/>
                <a:cs typeface="Calibri" pitchFamily="34" charset="-120"/>
              </a:rPr>
              <a:t>Controlled sending to an authorised audience</a:t>
            </a:r>
            <a:endParaRPr lang="en-US" sz="1200" dirty="0"/>
          </a:p>
        </p:txBody>
      </p:sp>
      <p:sp>
        <p:nvSpPr>
          <p:cNvPr id="19" name="Shape 14"/>
          <p:cNvSpPr/>
          <p:nvPr/>
        </p:nvSpPr>
        <p:spPr>
          <a:xfrm>
            <a:off x="457200" y="2880360"/>
            <a:ext cx="8229600" cy="475488"/>
          </a:xfrm>
          <a:prstGeom prst="roundRect">
            <a:avLst>
              <a:gd name="adj" fmla="val 11538"/>
            </a:avLst>
          </a:prstGeom>
          <a:solidFill>
            <a:srgbClr val="22222C"/>
          </a:solidFill>
          <a:ln w="12700">
            <a:solidFill>
              <a:srgbClr val="22222C"/>
            </a:solidFill>
            <a:prstDash val="solid"/>
          </a:ln>
        </p:spPr>
      </p:sp>
      <p:sp>
        <p:nvSpPr>
          <p:cNvPr id="20" name="Shape 15"/>
          <p:cNvSpPr/>
          <p:nvPr/>
        </p:nvSpPr>
        <p:spPr>
          <a:xfrm>
            <a:off x="548640" y="2935224"/>
            <a:ext cx="365760" cy="365760"/>
          </a:xfrm>
          <a:prstGeom prst="ellipse">
            <a:avLst/>
          </a:prstGeom>
          <a:solidFill>
            <a:srgbClr val="33333F"/>
          </a:solidFill>
          <a:ln w="12700">
            <a:solidFill>
              <a:srgbClr val="33333F"/>
            </a:solidFill>
            <a:prstDash val="solid"/>
          </a:ln>
        </p:spPr>
      </p:sp>
      <p:pic>
        <p:nvPicPr>
          <p:cNvPr id="21" name="Image 3" descr="preencoded.png">    </p:cNvPr>
          <p:cNvPicPr>
            <a:picLocks noChangeAspect="1"/>
          </p:cNvPicPr>
          <p:nvPr/>
        </p:nvPicPr>
        <p:blipFill>
          <a:blip r:embed="rId4"/>
          <a:stretch>
            <a:fillRect/>
          </a:stretch>
        </p:blipFill>
        <p:spPr>
          <a:xfrm>
            <a:off x="640080" y="3026664"/>
            <a:ext cx="182880" cy="182880"/>
          </a:xfrm>
          <a:prstGeom prst="rect">
            <a:avLst/>
          </a:prstGeom>
        </p:spPr>
      </p:pic>
      <p:sp>
        <p:nvSpPr>
          <p:cNvPr id="22" name="Text 16"/>
          <p:cNvSpPr txBox="1"/>
          <p:nvPr/>
        </p:nvSpPr>
        <p:spPr>
          <a:xfrm>
            <a:off x="1097280" y="2880360"/>
            <a:ext cx="219456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Measurement Layer</a:t>
            </a:r>
            <a:endParaRPr lang="en-US" sz="1300" dirty="0"/>
          </a:p>
        </p:txBody>
      </p:sp>
      <p:sp>
        <p:nvSpPr>
          <p:cNvPr id="23" name="Text 17"/>
          <p:cNvSpPr txBox="1"/>
          <p:nvPr/>
        </p:nvSpPr>
        <p:spPr>
          <a:xfrm>
            <a:off x="3383280" y="2880360"/>
            <a:ext cx="5120640" cy="475488"/>
          </a:xfrm>
          <a:prstGeom prst="rect">
            <a:avLst/>
          </a:prstGeom>
          <a:noFill/>
          <a:ln/>
        </p:spPr>
        <p:txBody>
          <a:bodyPr wrap="square" lIns="0" tIns="0" rIns="0" bIns="0" rtlCol="0" anchor="ctr"/>
          <a:lstStyle/>
          <a:p>
            <a:pPr indent="0" marL="0">
              <a:buNone/>
            </a:pPr>
            <a:r>
              <a:rPr lang="en-US" sz="1200" dirty="0">
                <a:solidFill>
                  <a:srgbClr val="D0D0DC"/>
                </a:solidFill>
                <a:latin typeface="Calibri" pitchFamily="34" charset="0"/>
                <a:ea typeface="Calibri" pitchFamily="34" charset="-122"/>
                <a:cs typeface="Calibri" pitchFamily="34" charset="-120"/>
              </a:rPr>
              <a:t>Opens, clicks and reports collected</a:t>
            </a:r>
            <a:endParaRPr lang="en-US" sz="1200" dirty="0"/>
          </a:p>
        </p:txBody>
      </p:sp>
      <p:sp>
        <p:nvSpPr>
          <p:cNvPr id="24" name="Shape 18"/>
          <p:cNvSpPr/>
          <p:nvPr/>
        </p:nvSpPr>
        <p:spPr>
          <a:xfrm>
            <a:off x="457200" y="3429000"/>
            <a:ext cx="8229600" cy="475488"/>
          </a:xfrm>
          <a:prstGeom prst="roundRect">
            <a:avLst>
              <a:gd name="adj" fmla="val 11538"/>
            </a:avLst>
          </a:prstGeom>
          <a:solidFill>
            <a:srgbClr val="22222C"/>
          </a:solidFill>
          <a:ln w="12700">
            <a:solidFill>
              <a:srgbClr val="22222C"/>
            </a:solidFill>
            <a:prstDash val="solid"/>
          </a:ln>
        </p:spPr>
      </p:sp>
      <p:sp>
        <p:nvSpPr>
          <p:cNvPr id="25" name="Shape 19"/>
          <p:cNvSpPr/>
          <p:nvPr/>
        </p:nvSpPr>
        <p:spPr>
          <a:xfrm>
            <a:off x="548640" y="3483864"/>
            <a:ext cx="365760" cy="365760"/>
          </a:xfrm>
          <a:prstGeom prst="ellipse">
            <a:avLst/>
          </a:prstGeom>
          <a:solidFill>
            <a:srgbClr val="33333F"/>
          </a:solidFill>
          <a:ln w="12700">
            <a:solidFill>
              <a:srgbClr val="33333F"/>
            </a:solidFill>
            <a:prstDash val="solid"/>
          </a:ln>
        </p:spPr>
      </p:sp>
      <p:pic>
        <p:nvPicPr>
          <p:cNvPr id="26" name="Image 4" descr="preencoded.png">    </p:cNvPr>
          <p:cNvPicPr>
            <a:picLocks noChangeAspect="1"/>
          </p:cNvPicPr>
          <p:nvPr/>
        </p:nvPicPr>
        <p:blipFill>
          <a:blip r:embed="rId5"/>
          <a:stretch>
            <a:fillRect/>
          </a:stretch>
        </p:blipFill>
        <p:spPr>
          <a:xfrm>
            <a:off x="640080" y="3575304"/>
            <a:ext cx="182880" cy="182880"/>
          </a:xfrm>
          <a:prstGeom prst="rect">
            <a:avLst/>
          </a:prstGeom>
        </p:spPr>
      </p:pic>
      <p:sp>
        <p:nvSpPr>
          <p:cNvPr id="27" name="Text 20"/>
          <p:cNvSpPr txBox="1"/>
          <p:nvPr/>
        </p:nvSpPr>
        <p:spPr>
          <a:xfrm>
            <a:off x="1097280" y="3429000"/>
            <a:ext cx="219456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Analysis Layer</a:t>
            </a:r>
            <a:endParaRPr lang="en-US" sz="1300" dirty="0"/>
          </a:p>
        </p:txBody>
      </p:sp>
      <p:sp>
        <p:nvSpPr>
          <p:cNvPr id="28" name="Text 21"/>
          <p:cNvSpPr txBox="1"/>
          <p:nvPr/>
        </p:nvSpPr>
        <p:spPr>
          <a:xfrm>
            <a:off x="3383280" y="3429000"/>
            <a:ext cx="5120640" cy="475488"/>
          </a:xfrm>
          <a:prstGeom prst="rect">
            <a:avLst/>
          </a:prstGeom>
          <a:noFill/>
          <a:ln/>
        </p:spPr>
        <p:txBody>
          <a:bodyPr wrap="square" lIns="0" tIns="0" rIns="0" bIns="0" rtlCol="0" anchor="ctr"/>
          <a:lstStyle/>
          <a:p>
            <a:pPr indent="0" marL="0">
              <a:buNone/>
            </a:pPr>
            <a:r>
              <a:rPr lang="en-US" sz="1200" dirty="0">
                <a:solidFill>
                  <a:srgbClr val="D0D0DC"/>
                </a:solidFill>
                <a:latin typeface="Calibri" pitchFamily="34" charset="0"/>
                <a:ea typeface="Calibri" pitchFamily="34" charset="-122"/>
                <a:cs typeface="Calibri" pitchFamily="34" charset="-120"/>
              </a:rPr>
              <a:t>Patterns, risky behaviours and groups needing support</a:t>
            </a:r>
            <a:endParaRPr lang="en-US" sz="1200" dirty="0"/>
          </a:p>
        </p:txBody>
      </p:sp>
      <p:sp>
        <p:nvSpPr>
          <p:cNvPr id="29" name="Shape 22"/>
          <p:cNvSpPr/>
          <p:nvPr/>
        </p:nvSpPr>
        <p:spPr>
          <a:xfrm>
            <a:off x="457200" y="3977640"/>
            <a:ext cx="8229600" cy="475488"/>
          </a:xfrm>
          <a:prstGeom prst="roundRect">
            <a:avLst>
              <a:gd name="adj" fmla="val 11538"/>
            </a:avLst>
          </a:prstGeom>
          <a:solidFill>
            <a:srgbClr val="22222C"/>
          </a:solidFill>
          <a:ln w="12700">
            <a:solidFill>
              <a:srgbClr val="22222C"/>
            </a:solidFill>
            <a:prstDash val="solid"/>
          </a:ln>
        </p:spPr>
      </p:sp>
      <p:sp>
        <p:nvSpPr>
          <p:cNvPr id="30" name="Shape 23"/>
          <p:cNvSpPr/>
          <p:nvPr/>
        </p:nvSpPr>
        <p:spPr>
          <a:xfrm>
            <a:off x="548640" y="4032504"/>
            <a:ext cx="365760" cy="365760"/>
          </a:xfrm>
          <a:prstGeom prst="ellipse">
            <a:avLst/>
          </a:prstGeom>
          <a:solidFill>
            <a:srgbClr val="33333F"/>
          </a:solidFill>
          <a:ln w="12700">
            <a:solidFill>
              <a:srgbClr val="33333F"/>
            </a:solidFill>
            <a:prstDash val="solid"/>
          </a:ln>
        </p:spPr>
      </p:sp>
      <p:pic>
        <p:nvPicPr>
          <p:cNvPr id="31" name="Image 5" descr="preencoded.png">    </p:cNvPr>
          <p:cNvPicPr>
            <a:picLocks noChangeAspect="1"/>
          </p:cNvPicPr>
          <p:nvPr/>
        </p:nvPicPr>
        <p:blipFill>
          <a:blip r:embed="rId6"/>
          <a:stretch>
            <a:fillRect/>
          </a:stretch>
        </p:blipFill>
        <p:spPr>
          <a:xfrm>
            <a:off x="640080" y="4123944"/>
            <a:ext cx="182880" cy="182880"/>
          </a:xfrm>
          <a:prstGeom prst="rect">
            <a:avLst/>
          </a:prstGeom>
        </p:spPr>
      </p:pic>
      <p:sp>
        <p:nvSpPr>
          <p:cNvPr id="32" name="Text 24"/>
          <p:cNvSpPr txBox="1"/>
          <p:nvPr/>
        </p:nvSpPr>
        <p:spPr>
          <a:xfrm>
            <a:off x="1097280" y="3977640"/>
            <a:ext cx="219456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Response Layer</a:t>
            </a:r>
            <a:endParaRPr lang="en-US" sz="1300" dirty="0"/>
          </a:p>
        </p:txBody>
      </p:sp>
      <p:sp>
        <p:nvSpPr>
          <p:cNvPr id="33" name="Text 25"/>
          <p:cNvSpPr txBox="1"/>
          <p:nvPr/>
        </p:nvSpPr>
        <p:spPr>
          <a:xfrm>
            <a:off x="3383280" y="3977640"/>
            <a:ext cx="5120640" cy="475488"/>
          </a:xfrm>
          <a:prstGeom prst="rect">
            <a:avLst/>
          </a:prstGeom>
          <a:noFill/>
          <a:ln/>
        </p:spPr>
        <p:txBody>
          <a:bodyPr wrap="square" lIns="0" tIns="0" rIns="0" bIns="0" rtlCol="0" anchor="ctr"/>
          <a:lstStyle/>
          <a:p>
            <a:pPr indent="0" marL="0">
              <a:buNone/>
            </a:pPr>
            <a:r>
              <a:rPr lang="en-US" sz="1200" dirty="0">
                <a:solidFill>
                  <a:srgbClr val="D0D0DC"/>
                </a:solidFill>
                <a:latin typeface="Calibri" pitchFamily="34" charset="0"/>
                <a:ea typeface="Calibri" pitchFamily="34" charset="-122"/>
                <a:cs typeface="Calibri" pitchFamily="34" charset="-120"/>
              </a:rPr>
              <a:t>Recommendations, training and reporting guidance</a:t>
            </a:r>
            <a:endParaRPr lang="en-US" sz="1200" dirty="0"/>
          </a:p>
        </p:txBody>
      </p:sp>
      <p:sp>
        <p:nvSpPr>
          <p:cNvPr id="34" name="Text 26"/>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9A9AAA"/>
                </a:solidFill>
                <a:latin typeface="Calibri" pitchFamily="34" charset="0"/>
                <a:ea typeface="Calibri" pitchFamily="34" charset="-122"/>
                <a:cs typeface="Calibri" pitchFamily="34" charset="-120"/>
              </a:rPr>
              <a:t>Cybersecurity Job Simulation  |  Aditya Sharma</a:t>
            </a:r>
            <a:endParaRPr lang="en-US" sz="900" dirty="0"/>
          </a:p>
        </p:txBody>
      </p:sp>
      <p:sp>
        <p:nvSpPr>
          <p:cNvPr id="35" name="Text 27"/>
          <p:cNvSpPr txBox="1"/>
          <p:nvPr/>
        </p:nvSpPr>
        <p:spPr>
          <a:xfrm>
            <a:off x="8138160" y="4754880"/>
            <a:ext cx="548640" cy="228600"/>
          </a:xfrm>
          <a:prstGeom prst="rect">
            <a:avLst/>
          </a:prstGeom>
          <a:noFill/>
          <a:ln/>
        </p:spPr>
        <p:txBody>
          <a:bodyPr wrap="square" lIns="0" tIns="0" rIns="0" bIns="0" rtlCol="0" anchor="ctr"/>
          <a:lstStyle/>
          <a:p>
            <a:pPr algn="r" indent="0" marL="0">
              <a:buNone/>
            </a:pPr>
            <a:r>
              <a:rPr lang="en-US" sz="900" dirty="0">
                <a:solidFill>
                  <a:srgbClr val="9A9AAA"/>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7"/>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400" kern="0" dirty="0">
                <a:solidFill>
                  <a:srgbClr val="EB001B"/>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457200" y="594360"/>
            <a:ext cx="8229600" cy="640080"/>
          </a:xfrm>
          <a:prstGeom prst="rect">
            <a:avLst/>
          </a:prstGeom>
          <a:noFill/>
          <a:ln/>
        </p:spPr>
        <p:txBody>
          <a:bodyPr wrap="square" lIns="0" tIns="0" rIns="0" bIns="0" rtlCol="0" anchor="ctr"/>
          <a:lstStyle/>
          <a:p>
            <a:pPr indent="0" marL="0">
              <a:buNone/>
            </a:pPr>
            <a:r>
              <a:rPr lang="en-US" sz="3000" b="1" dirty="0">
                <a:solidFill>
                  <a:srgbClr val="1F2330"/>
                </a:solidFill>
                <a:latin typeface="Cambria" pitchFamily="34" charset="0"/>
                <a:ea typeface="Cambria" pitchFamily="34" charset="-122"/>
                <a:cs typeface="Cambria" pitchFamily="34" charset="-120"/>
              </a:rPr>
              <a:t>Two Practical Tasks, One Workflow</a:t>
            </a:r>
            <a:endParaRPr lang="en-US" sz="3000" dirty="0"/>
          </a:p>
        </p:txBody>
      </p:sp>
      <p:sp>
        <p:nvSpPr>
          <p:cNvPr id="4" name="Shape 2"/>
          <p:cNvSpPr/>
          <p:nvPr/>
        </p:nvSpPr>
        <p:spPr>
          <a:xfrm>
            <a:off x="457200" y="1417320"/>
            <a:ext cx="388620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85800" y="1645920"/>
            <a:ext cx="548640" cy="548640"/>
          </a:xfrm>
          <a:prstGeom prst="ellipse">
            <a:avLst/>
          </a:prstGeom>
          <a:solidFill>
            <a:srgbClr val="EB001B"/>
          </a:solidFill>
          <a:ln w="12700">
            <a:solidFill>
              <a:srgbClr val="EB001B"/>
            </a:solidFill>
            <a:prstDash val="solid"/>
          </a:ln>
        </p:spPr>
      </p:sp>
      <p:sp>
        <p:nvSpPr>
          <p:cNvPr id="6" name="Text 4"/>
          <p:cNvSpPr txBox="1"/>
          <p:nvPr/>
        </p:nvSpPr>
        <p:spPr>
          <a:xfrm>
            <a:off x="68580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371600" y="1691640"/>
            <a:ext cx="1828800" cy="228600"/>
          </a:xfrm>
          <a:prstGeom prst="rect">
            <a:avLst/>
          </a:prstGeom>
          <a:noFill/>
          <a:ln/>
        </p:spPr>
        <p:txBody>
          <a:bodyPr wrap="square" lIns="0" tIns="0" rIns="0" bIns="0" rtlCol="0" anchor="ctr"/>
          <a:lstStyle/>
          <a:p>
            <a:pPr indent="0" marL="0">
              <a:buNone/>
            </a:pPr>
            <a:r>
              <a:rPr lang="en-US" sz="1000" b="1" spc="300" kern="0" dirty="0">
                <a:solidFill>
                  <a:srgbClr val="F79E1B"/>
                </a:solidFill>
                <a:latin typeface="Calibri" pitchFamily="34" charset="0"/>
                <a:ea typeface="Calibri" pitchFamily="34" charset="-122"/>
                <a:cs typeface="Calibri" pitchFamily="34" charset="-120"/>
              </a:rPr>
              <a:t>TASK</a:t>
            </a:r>
            <a:endParaRPr lang="en-US" sz="1000" dirty="0"/>
          </a:p>
        </p:txBody>
      </p:sp>
      <p:sp>
        <p:nvSpPr>
          <p:cNvPr id="8" name="Text 6"/>
          <p:cNvSpPr txBox="1"/>
          <p:nvPr/>
        </p:nvSpPr>
        <p:spPr>
          <a:xfrm>
            <a:off x="1371600" y="1901952"/>
            <a:ext cx="2834640" cy="457200"/>
          </a:xfrm>
          <a:prstGeom prst="rect">
            <a:avLst/>
          </a:prstGeom>
          <a:noFill/>
          <a:ln/>
        </p:spPr>
        <p:txBody>
          <a:bodyPr wrap="square" lIns="0" tIns="0" rIns="0" bIns="0" rtlCol="0" anchor="t"/>
          <a:lstStyle/>
          <a:p>
            <a:pPr indent="0" marL="0">
              <a:buNone/>
            </a:pPr>
            <a:r>
              <a:rPr lang="en-US" sz="1400" b="1" dirty="0">
                <a:solidFill>
                  <a:srgbClr val="1F2330"/>
                </a:solidFill>
                <a:latin typeface="Calibri" pitchFamily="34" charset="0"/>
                <a:ea typeface="Calibri" pitchFamily="34" charset="-122"/>
                <a:cs typeface="Calibri" pitchFamily="34" charset="-120"/>
              </a:rPr>
              <a:t>Design a phishing email simulation</a:t>
            </a:r>
            <a:endParaRPr lang="en-US" sz="1400" dirty="0"/>
          </a:p>
        </p:txBody>
      </p:sp>
      <p:sp>
        <p:nvSpPr>
          <p:cNvPr id="9" name="Text 7"/>
          <p:cNvSpPr txBox="1"/>
          <p:nvPr/>
        </p:nvSpPr>
        <p:spPr>
          <a:xfrm>
            <a:off x="685800" y="2514600"/>
            <a:ext cx="3474720" cy="1097280"/>
          </a:xfrm>
          <a:prstGeom prst="rect">
            <a:avLst/>
          </a:prstGeom>
          <a:noFill/>
          <a:ln/>
        </p:spPr>
        <p:txBody>
          <a:bodyPr wrap="square" lIns="0" tIns="0" rIns="0" bIns="0" rtlCol="0" anchor="t"/>
          <a:lstStyle/>
          <a:p>
            <a:pPr indent="0" marL="0">
              <a:buNone/>
            </a:pPr>
            <a:r>
              <a:rPr lang="en-US" sz="1200" dirty="0">
                <a:solidFill>
                  <a:srgbClr val="5B6070"/>
                </a:solidFill>
                <a:latin typeface="Calibri" pitchFamily="34" charset="0"/>
                <a:ea typeface="Calibri" pitchFamily="34" charset="-122"/>
                <a:cs typeface="Calibri" pitchFamily="34" charset="-120"/>
              </a:rPr>
              <a:t>Plan and design a simulated phishing email that tests employee awareness in a safe, controlled way, with a clear learning objective.</a:t>
            </a:r>
            <a:endParaRPr lang="en-US" sz="1200" dirty="0"/>
          </a:p>
        </p:txBody>
      </p:sp>
      <p:sp>
        <p:nvSpPr>
          <p:cNvPr id="10" name="Shape 8"/>
          <p:cNvSpPr/>
          <p:nvPr/>
        </p:nvSpPr>
        <p:spPr>
          <a:xfrm>
            <a:off x="4800600" y="1417320"/>
            <a:ext cx="388620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1" name="Shape 9"/>
          <p:cNvSpPr/>
          <p:nvPr/>
        </p:nvSpPr>
        <p:spPr>
          <a:xfrm>
            <a:off x="5029200" y="1645920"/>
            <a:ext cx="548640" cy="548640"/>
          </a:xfrm>
          <a:prstGeom prst="ellipse">
            <a:avLst/>
          </a:prstGeom>
          <a:solidFill>
            <a:srgbClr val="EB001B"/>
          </a:solidFill>
          <a:ln w="12700">
            <a:solidFill>
              <a:srgbClr val="EB001B"/>
            </a:solidFill>
            <a:prstDash val="solid"/>
          </a:ln>
        </p:spPr>
      </p:sp>
      <p:sp>
        <p:nvSpPr>
          <p:cNvPr id="12" name="Text 10"/>
          <p:cNvSpPr txBox="1"/>
          <p:nvPr/>
        </p:nvSpPr>
        <p:spPr>
          <a:xfrm>
            <a:off x="502920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5715000" y="1691640"/>
            <a:ext cx="1828800" cy="228600"/>
          </a:xfrm>
          <a:prstGeom prst="rect">
            <a:avLst/>
          </a:prstGeom>
          <a:noFill/>
          <a:ln/>
        </p:spPr>
        <p:txBody>
          <a:bodyPr wrap="square" lIns="0" tIns="0" rIns="0" bIns="0" rtlCol="0" anchor="ctr"/>
          <a:lstStyle/>
          <a:p>
            <a:pPr indent="0" marL="0">
              <a:buNone/>
            </a:pPr>
            <a:r>
              <a:rPr lang="en-US" sz="1000" b="1" spc="300" kern="0" dirty="0">
                <a:solidFill>
                  <a:srgbClr val="F79E1B"/>
                </a:solidFill>
                <a:latin typeface="Calibri" pitchFamily="34" charset="0"/>
                <a:ea typeface="Calibri" pitchFamily="34" charset="-122"/>
                <a:cs typeface="Calibri" pitchFamily="34" charset="-120"/>
              </a:rPr>
              <a:t>TASK</a:t>
            </a:r>
            <a:endParaRPr lang="en-US" sz="1000" dirty="0"/>
          </a:p>
        </p:txBody>
      </p:sp>
      <p:sp>
        <p:nvSpPr>
          <p:cNvPr id="14" name="Text 12"/>
          <p:cNvSpPr txBox="1"/>
          <p:nvPr/>
        </p:nvSpPr>
        <p:spPr>
          <a:xfrm>
            <a:off x="5715000" y="1901952"/>
            <a:ext cx="2834640" cy="457200"/>
          </a:xfrm>
          <a:prstGeom prst="rect">
            <a:avLst/>
          </a:prstGeom>
          <a:noFill/>
          <a:ln/>
        </p:spPr>
        <p:txBody>
          <a:bodyPr wrap="square" lIns="0" tIns="0" rIns="0" bIns="0" rtlCol="0" anchor="t"/>
          <a:lstStyle/>
          <a:p>
            <a:pPr indent="0" marL="0">
              <a:buNone/>
            </a:pPr>
            <a:r>
              <a:rPr lang="en-US" sz="1400" b="1" dirty="0">
                <a:solidFill>
                  <a:srgbClr val="1F2330"/>
                </a:solidFill>
                <a:latin typeface="Calibri" pitchFamily="34" charset="0"/>
                <a:ea typeface="Calibri" pitchFamily="34" charset="-122"/>
                <a:cs typeface="Calibri" pitchFamily="34" charset="-120"/>
              </a:rPr>
              <a:t>Interpret phishing simulation results</a:t>
            </a:r>
            <a:endParaRPr lang="en-US" sz="1400" dirty="0"/>
          </a:p>
        </p:txBody>
      </p:sp>
      <p:sp>
        <p:nvSpPr>
          <p:cNvPr id="15" name="Text 13"/>
          <p:cNvSpPr txBox="1"/>
          <p:nvPr/>
        </p:nvSpPr>
        <p:spPr>
          <a:xfrm>
            <a:off x="5029200" y="2514600"/>
            <a:ext cx="3474720" cy="1097280"/>
          </a:xfrm>
          <a:prstGeom prst="rect">
            <a:avLst/>
          </a:prstGeom>
          <a:noFill/>
          <a:ln/>
        </p:spPr>
        <p:txBody>
          <a:bodyPr wrap="square" lIns="0" tIns="0" rIns="0" bIns="0" rtlCol="0" anchor="t"/>
          <a:lstStyle/>
          <a:p>
            <a:pPr indent="0" marL="0">
              <a:buNone/>
            </a:pPr>
            <a:r>
              <a:rPr lang="en-US" sz="1200" dirty="0">
                <a:solidFill>
                  <a:srgbClr val="5B6070"/>
                </a:solidFill>
                <a:latin typeface="Calibri" pitchFamily="34" charset="0"/>
                <a:ea typeface="Calibri" pitchFamily="34" charset="-122"/>
                <a:cs typeface="Calibri" pitchFamily="34" charset="-120"/>
              </a:rPr>
              <a:t>Analyse the outcome of a phishing simulation, identify what it reveals about staff behaviour, and draw conclusions and recommendations.</a:t>
            </a:r>
            <a:endParaRPr lang="en-US" sz="1200" dirty="0"/>
          </a:p>
        </p:txBody>
      </p:sp>
      <p:pic>
        <p:nvPicPr>
          <p:cNvPr id="16" name="Image 0" descr="preencoded.png">    </p:cNvPr>
          <p:cNvPicPr>
            <a:picLocks noChangeAspect="1"/>
          </p:cNvPicPr>
          <p:nvPr/>
        </p:nvPicPr>
        <p:blipFill>
          <a:blip r:embed="rId1"/>
          <a:stretch>
            <a:fillRect/>
          </a:stretch>
        </p:blipFill>
        <p:spPr>
          <a:xfrm>
            <a:off x="4480560" y="2377440"/>
            <a:ext cx="201168" cy="201168"/>
          </a:xfrm>
          <a:prstGeom prst="rect">
            <a:avLst/>
          </a:prstGeom>
        </p:spPr>
      </p:pic>
      <p:sp>
        <p:nvSpPr>
          <p:cNvPr id="17" name="Shape 14"/>
          <p:cNvSpPr/>
          <p:nvPr/>
        </p:nvSpPr>
        <p:spPr>
          <a:xfrm>
            <a:off x="457200" y="3749040"/>
            <a:ext cx="8229600" cy="685800"/>
          </a:xfrm>
          <a:prstGeom prst="roundRect">
            <a:avLst>
              <a:gd name="adj" fmla="val 10667"/>
            </a:avLst>
          </a:prstGeom>
          <a:solidFill>
            <a:srgbClr val="16161D"/>
          </a:solidFill>
          <a:ln w="12700">
            <a:solidFill>
              <a:srgbClr val="16161D"/>
            </a:solidFill>
            <a:prstDash val="solid"/>
          </a:ln>
        </p:spPr>
      </p:sp>
      <p:sp>
        <p:nvSpPr>
          <p:cNvPr id="18" name="Text 15"/>
          <p:cNvSpPr txBox="1"/>
          <p:nvPr/>
        </p:nvSpPr>
        <p:spPr>
          <a:xfrm>
            <a:off x="685800" y="3749040"/>
            <a:ext cx="7772400" cy="6858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Self-paced, completed in September 2026. Recognised by a Certificate of Completion (20 September 2026); no stipend, no graded assessment.</a:t>
            </a:r>
            <a:endParaRPr lang="en-US" sz="1200" dirty="0"/>
          </a:p>
        </p:txBody>
      </p:sp>
      <p:sp>
        <p:nvSpPr>
          <p:cNvPr id="19" name="Text 16"/>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5B6070"/>
                </a:solidFill>
                <a:latin typeface="Calibri" pitchFamily="34" charset="0"/>
                <a:ea typeface="Calibri" pitchFamily="34" charset="-122"/>
                <a:cs typeface="Calibri" pitchFamily="34" charset="-120"/>
              </a:rPr>
              <a:t>Cybersecurity Job Simulation  |  Aditya Sharma</a:t>
            </a:r>
            <a:endParaRPr lang="en-US" sz="900" dirty="0"/>
          </a:p>
        </p:txBody>
      </p:sp>
      <p:sp>
        <p:nvSpPr>
          <p:cNvPr id="20" name="Text 17"/>
          <p:cNvSpPr txBox="1"/>
          <p:nvPr/>
        </p:nvSpPr>
        <p:spPr>
          <a:xfrm>
            <a:off x="8138160" y="4754880"/>
            <a:ext cx="548640" cy="228600"/>
          </a:xfrm>
          <a:prstGeom prst="rect">
            <a:avLst/>
          </a:prstGeom>
          <a:noFill/>
          <a:ln/>
        </p:spPr>
        <p:txBody>
          <a:bodyPr wrap="square" lIns="0" tIns="0" rIns="0" bIns="0" rtlCol="0" anchor="ctr"/>
          <a:lstStyle/>
          <a:p>
            <a:pPr algn="r" indent="0" marL="0">
              <a:buNone/>
            </a:pPr>
            <a:r>
              <a:rPr lang="en-US" sz="900" dirty="0">
                <a:solidFill>
                  <a:srgbClr val="5B6070"/>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400" kern="0" dirty="0">
                <a:solidFill>
                  <a:srgbClr val="EB001B"/>
                </a:solidFill>
                <a:latin typeface="Calibri" pitchFamily="34" charset="0"/>
                <a:ea typeface="Calibri" pitchFamily="34" charset="-122"/>
                <a:cs typeface="Calibri" pitchFamily="34" charset="-120"/>
              </a:rPr>
              <a:t>EXPECTED OUTCOMES</a:t>
            </a:r>
            <a:endParaRPr lang="en-US" sz="1100" dirty="0"/>
          </a:p>
        </p:txBody>
      </p:sp>
      <p:sp>
        <p:nvSpPr>
          <p:cNvPr id="3" name="Text 1"/>
          <p:cNvSpPr txBox="1"/>
          <p:nvPr/>
        </p:nvSpPr>
        <p:spPr>
          <a:xfrm>
            <a:off x="457200" y="594360"/>
            <a:ext cx="8229600" cy="640080"/>
          </a:xfrm>
          <a:prstGeom prst="rect">
            <a:avLst/>
          </a:prstGeom>
          <a:noFill/>
          <a:ln/>
        </p:spPr>
        <p:txBody>
          <a:bodyPr wrap="square" lIns="0" tIns="0" rIns="0" bIns="0" rtlCol="0" anchor="ctr"/>
          <a:lstStyle/>
          <a:p>
            <a:pPr indent="0" marL="0">
              <a:buNone/>
            </a:pPr>
            <a:r>
              <a:rPr lang="en-US" sz="3000" b="1" dirty="0">
                <a:solidFill>
                  <a:srgbClr val="1F2330"/>
                </a:solidFill>
                <a:latin typeface="Cambria" pitchFamily="34" charset="0"/>
                <a:ea typeface="Cambria" pitchFamily="34" charset="-122"/>
                <a:cs typeface="Cambria" pitchFamily="34" charset="-120"/>
              </a:rPr>
              <a:t>Skills &amp; Capabilities Gained</a:t>
            </a:r>
            <a:endParaRPr lang="en-US" sz="3000" dirty="0"/>
          </a:p>
        </p:txBody>
      </p:sp>
      <p:sp>
        <p:nvSpPr>
          <p:cNvPr id="4" name="Shape 2"/>
          <p:cNvSpPr/>
          <p:nvPr/>
        </p:nvSpPr>
        <p:spPr>
          <a:xfrm>
            <a:off x="457200" y="1463040"/>
            <a:ext cx="420624" cy="420624"/>
          </a:xfrm>
          <a:prstGeom prst="ellipse">
            <a:avLst/>
          </a:prstGeom>
          <a:solidFill>
            <a:srgbClr val="FDE7EA"/>
          </a:solidFill>
          <a:ln w="12700">
            <a:solidFill>
              <a:srgbClr val="FDE7EA"/>
            </a:solidFill>
            <a:prstDash val="solid"/>
          </a:ln>
        </p:spPr>
      </p:sp>
      <p:pic>
        <p:nvPicPr>
          <p:cNvPr id="5" name="Image 0" descr="preencoded.png">    </p:cNvPr>
          <p:cNvPicPr>
            <a:picLocks noChangeAspect="1"/>
          </p:cNvPicPr>
          <p:nvPr/>
        </p:nvPicPr>
        <p:blipFill>
          <a:blip r:embed="rId1"/>
          <a:stretch>
            <a:fillRect/>
          </a:stretch>
        </p:blipFill>
        <p:spPr>
          <a:xfrm>
            <a:off x="562356" y="1568196"/>
            <a:ext cx="210312" cy="210312"/>
          </a:xfrm>
          <a:prstGeom prst="rect">
            <a:avLst/>
          </a:prstGeom>
        </p:spPr>
      </p:pic>
      <p:sp>
        <p:nvSpPr>
          <p:cNvPr id="6" name="Text 3"/>
          <p:cNvSpPr txBox="1"/>
          <p:nvPr/>
        </p:nvSpPr>
        <p:spPr>
          <a:xfrm>
            <a:off x="1097280" y="1463040"/>
            <a:ext cx="7589520" cy="420624"/>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Explain how phishing attacks work and recognise their common indicators</a:t>
            </a:r>
            <a:endParaRPr lang="en-US" sz="1500" dirty="0"/>
          </a:p>
        </p:txBody>
      </p:sp>
      <p:sp>
        <p:nvSpPr>
          <p:cNvPr id="7" name="Shape 4"/>
          <p:cNvSpPr/>
          <p:nvPr/>
        </p:nvSpPr>
        <p:spPr>
          <a:xfrm>
            <a:off x="457200" y="2084832"/>
            <a:ext cx="420624" cy="420624"/>
          </a:xfrm>
          <a:prstGeom prst="ellipse">
            <a:avLst/>
          </a:prstGeom>
          <a:solidFill>
            <a:srgbClr val="FDE7EA"/>
          </a:solidFill>
          <a:ln w="12700">
            <a:solidFill>
              <a:srgbClr val="FDE7EA"/>
            </a:solidFill>
            <a:prstDash val="solid"/>
          </a:ln>
        </p:spPr>
      </p:sp>
      <p:pic>
        <p:nvPicPr>
          <p:cNvPr id="8" name="Image 1" descr="preencoded.png">    </p:cNvPr>
          <p:cNvPicPr>
            <a:picLocks noChangeAspect="1"/>
          </p:cNvPicPr>
          <p:nvPr/>
        </p:nvPicPr>
        <p:blipFill>
          <a:blip r:embed="rId2"/>
          <a:stretch>
            <a:fillRect/>
          </a:stretch>
        </p:blipFill>
        <p:spPr>
          <a:xfrm>
            <a:off x="562356" y="2189988"/>
            <a:ext cx="210312" cy="210312"/>
          </a:xfrm>
          <a:prstGeom prst="rect">
            <a:avLst/>
          </a:prstGeom>
        </p:spPr>
      </p:pic>
      <p:sp>
        <p:nvSpPr>
          <p:cNvPr id="9" name="Text 5"/>
          <p:cNvSpPr txBox="1"/>
          <p:nvPr/>
        </p:nvSpPr>
        <p:spPr>
          <a:xfrm>
            <a:off x="1097280" y="2084832"/>
            <a:ext cx="7589520" cy="420624"/>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Design a realistic but safe phishing simulation with a clear awareness objective</a:t>
            </a:r>
            <a:endParaRPr lang="en-US" sz="1500" dirty="0"/>
          </a:p>
        </p:txBody>
      </p:sp>
      <p:sp>
        <p:nvSpPr>
          <p:cNvPr id="10" name="Shape 6"/>
          <p:cNvSpPr/>
          <p:nvPr/>
        </p:nvSpPr>
        <p:spPr>
          <a:xfrm>
            <a:off x="457200" y="2706624"/>
            <a:ext cx="420624" cy="420624"/>
          </a:xfrm>
          <a:prstGeom prst="ellipse">
            <a:avLst/>
          </a:prstGeom>
          <a:solidFill>
            <a:srgbClr val="FDE7EA"/>
          </a:solidFill>
          <a:ln w="12700">
            <a:solidFill>
              <a:srgbClr val="FDE7EA"/>
            </a:solidFill>
            <a:prstDash val="solid"/>
          </a:ln>
        </p:spPr>
      </p:sp>
      <p:pic>
        <p:nvPicPr>
          <p:cNvPr id="11" name="Image 2" descr="preencoded.png">    </p:cNvPr>
          <p:cNvPicPr>
            <a:picLocks noChangeAspect="1"/>
          </p:cNvPicPr>
          <p:nvPr/>
        </p:nvPicPr>
        <p:blipFill>
          <a:blip r:embed="rId3"/>
          <a:stretch>
            <a:fillRect/>
          </a:stretch>
        </p:blipFill>
        <p:spPr>
          <a:xfrm>
            <a:off x="562356" y="2811780"/>
            <a:ext cx="210312" cy="210312"/>
          </a:xfrm>
          <a:prstGeom prst="rect">
            <a:avLst/>
          </a:prstGeom>
        </p:spPr>
      </p:pic>
      <p:sp>
        <p:nvSpPr>
          <p:cNvPr id="12" name="Text 7"/>
          <p:cNvSpPr txBox="1"/>
          <p:nvPr/>
        </p:nvSpPr>
        <p:spPr>
          <a:xfrm>
            <a:off x="1097280" y="2706624"/>
            <a:ext cx="7589520" cy="420624"/>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Read simulation results and identify risky behaviours and at-risk groups</a:t>
            </a:r>
            <a:endParaRPr lang="en-US" sz="1500" dirty="0"/>
          </a:p>
        </p:txBody>
      </p:sp>
      <p:sp>
        <p:nvSpPr>
          <p:cNvPr id="13" name="Shape 8"/>
          <p:cNvSpPr/>
          <p:nvPr/>
        </p:nvSpPr>
        <p:spPr>
          <a:xfrm>
            <a:off x="457200" y="3328416"/>
            <a:ext cx="420624" cy="420624"/>
          </a:xfrm>
          <a:prstGeom prst="ellipse">
            <a:avLst/>
          </a:prstGeom>
          <a:solidFill>
            <a:srgbClr val="FDE7EA"/>
          </a:solidFill>
          <a:ln w="12700">
            <a:solidFill>
              <a:srgbClr val="FDE7EA"/>
            </a:solidFill>
            <a:prstDash val="solid"/>
          </a:ln>
        </p:spPr>
      </p:sp>
      <p:pic>
        <p:nvPicPr>
          <p:cNvPr id="14" name="Image 3" descr="preencoded.png">    </p:cNvPr>
          <p:cNvPicPr>
            <a:picLocks noChangeAspect="1"/>
          </p:cNvPicPr>
          <p:nvPr/>
        </p:nvPicPr>
        <p:blipFill>
          <a:blip r:embed="rId4"/>
          <a:stretch>
            <a:fillRect/>
          </a:stretch>
        </p:blipFill>
        <p:spPr>
          <a:xfrm>
            <a:off x="562356" y="3433572"/>
            <a:ext cx="210312" cy="210312"/>
          </a:xfrm>
          <a:prstGeom prst="rect">
            <a:avLst/>
          </a:prstGeom>
        </p:spPr>
      </p:pic>
      <p:sp>
        <p:nvSpPr>
          <p:cNvPr id="15" name="Text 9"/>
          <p:cNvSpPr txBox="1"/>
          <p:nvPr/>
        </p:nvSpPr>
        <p:spPr>
          <a:xfrm>
            <a:off x="1097280" y="3328416"/>
            <a:ext cx="7589520" cy="420624"/>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Recommend practical actions, such as training and reporting improvements</a:t>
            </a:r>
            <a:endParaRPr lang="en-US" sz="1500" dirty="0"/>
          </a:p>
        </p:txBody>
      </p:sp>
      <p:sp>
        <p:nvSpPr>
          <p:cNvPr id="16" name="Shape 10"/>
          <p:cNvSpPr/>
          <p:nvPr/>
        </p:nvSpPr>
        <p:spPr>
          <a:xfrm>
            <a:off x="457200" y="3950208"/>
            <a:ext cx="420624" cy="420624"/>
          </a:xfrm>
          <a:prstGeom prst="ellipse">
            <a:avLst/>
          </a:prstGeom>
          <a:solidFill>
            <a:srgbClr val="FDE7EA"/>
          </a:solidFill>
          <a:ln w="12700">
            <a:solidFill>
              <a:srgbClr val="FDE7EA"/>
            </a:solidFill>
            <a:prstDash val="solid"/>
          </a:ln>
        </p:spPr>
      </p:sp>
      <p:pic>
        <p:nvPicPr>
          <p:cNvPr id="17" name="Image 4" descr="preencoded.png">    </p:cNvPr>
          <p:cNvPicPr>
            <a:picLocks noChangeAspect="1"/>
          </p:cNvPicPr>
          <p:nvPr/>
        </p:nvPicPr>
        <p:blipFill>
          <a:blip r:embed="rId5"/>
          <a:stretch>
            <a:fillRect/>
          </a:stretch>
        </p:blipFill>
        <p:spPr>
          <a:xfrm>
            <a:off x="562356" y="4055364"/>
            <a:ext cx="210312" cy="210312"/>
          </a:xfrm>
          <a:prstGeom prst="rect">
            <a:avLst/>
          </a:prstGeom>
        </p:spPr>
      </p:pic>
      <p:sp>
        <p:nvSpPr>
          <p:cNvPr id="18" name="Text 11"/>
          <p:cNvSpPr txBox="1"/>
          <p:nvPr/>
        </p:nvSpPr>
        <p:spPr>
          <a:xfrm>
            <a:off x="1097280" y="3950208"/>
            <a:ext cx="7589520" cy="420624"/>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Completed both practical tasks and earned a Forage Certificate of Completion</a:t>
            </a:r>
            <a:endParaRPr lang="en-US" sz="1500" dirty="0"/>
          </a:p>
        </p:txBody>
      </p:sp>
      <p:sp>
        <p:nvSpPr>
          <p:cNvPr id="19" name="Text 12"/>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5B6070"/>
                </a:solidFill>
                <a:latin typeface="Calibri" pitchFamily="34" charset="0"/>
                <a:ea typeface="Calibri" pitchFamily="34" charset="-122"/>
                <a:cs typeface="Calibri" pitchFamily="34" charset="-120"/>
              </a:rPr>
              <a:t>Cybersecurity Job Simulation  |  Aditya Sharma</a:t>
            </a:r>
            <a:endParaRPr lang="en-US" sz="900" dirty="0"/>
          </a:p>
        </p:txBody>
      </p:sp>
      <p:sp>
        <p:nvSpPr>
          <p:cNvPr id="20" name="Text 13"/>
          <p:cNvSpPr txBox="1"/>
          <p:nvPr/>
        </p:nvSpPr>
        <p:spPr>
          <a:xfrm>
            <a:off x="8138160" y="4754880"/>
            <a:ext cx="548640" cy="228600"/>
          </a:xfrm>
          <a:prstGeom prst="rect">
            <a:avLst/>
          </a:prstGeom>
          <a:noFill/>
          <a:ln/>
        </p:spPr>
        <p:txBody>
          <a:bodyPr wrap="square" lIns="0" tIns="0" rIns="0" bIns="0" rtlCol="0" anchor="ctr"/>
          <a:lstStyle/>
          <a:p>
            <a:pPr algn="r" indent="0" marL="0">
              <a:buNone/>
            </a:pPr>
            <a:r>
              <a:rPr lang="en-US" sz="900" dirty="0">
                <a:solidFill>
                  <a:srgbClr val="5B6070"/>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400" kern="0" dirty="0">
                <a:solidFill>
                  <a:srgbClr val="F79E1B"/>
                </a:solidFill>
                <a:latin typeface="Calibri" pitchFamily="34" charset="0"/>
                <a:ea typeface="Calibri" pitchFamily="34" charset="-122"/>
                <a:cs typeface="Calibri" pitchFamily="34" charset="-120"/>
              </a:rPr>
              <a:t>CERTIFICATION</a:t>
            </a:r>
            <a:endParaRPr lang="en-US" sz="1100" dirty="0"/>
          </a:p>
        </p:txBody>
      </p:sp>
      <p:sp>
        <p:nvSpPr>
          <p:cNvPr id="3" name="Text 1"/>
          <p:cNvSpPr txBox="1"/>
          <p:nvPr/>
        </p:nvSpPr>
        <p:spPr>
          <a:xfrm>
            <a:off x="457200" y="59436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Successfully Completed</a:t>
            </a:r>
            <a:endParaRPr lang="en-US" sz="3000" dirty="0"/>
          </a:p>
        </p:txBody>
      </p:sp>
      <p:sp>
        <p:nvSpPr>
          <p:cNvPr id="4" name="Shape 2"/>
          <p:cNvSpPr/>
          <p:nvPr/>
        </p:nvSpPr>
        <p:spPr>
          <a:xfrm>
            <a:off x="457200" y="1463040"/>
            <a:ext cx="457200" cy="457200"/>
          </a:xfrm>
          <a:prstGeom prst="ellipse">
            <a:avLst/>
          </a:prstGeom>
          <a:solidFill>
            <a:srgbClr val="22222C"/>
          </a:solidFill>
          <a:ln w="12700">
            <a:solidFill>
              <a:srgbClr val="22222C"/>
            </a:solidFill>
            <a:prstDash val="solid"/>
          </a:ln>
        </p:spPr>
      </p:sp>
      <p:pic>
        <p:nvPicPr>
          <p:cNvPr id="5" name="Image 0" descr="preencoded.png">    </p:cNvPr>
          <p:cNvPicPr>
            <a:picLocks noChangeAspect="1"/>
          </p:cNvPicPr>
          <p:nvPr/>
        </p:nvPicPr>
        <p:blipFill>
          <a:blip r:embed="rId1"/>
          <a:stretch>
            <a:fillRect/>
          </a:stretch>
        </p:blipFill>
        <p:spPr>
          <a:xfrm>
            <a:off x="571500" y="1577340"/>
            <a:ext cx="228600" cy="228600"/>
          </a:xfrm>
          <a:prstGeom prst="rect">
            <a:avLst/>
          </a:prstGeom>
        </p:spPr>
      </p:pic>
      <p:sp>
        <p:nvSpPr>
          <p:cNvPr id="6" name="Text 3"/>
          <p:cNvSpPr txBox="1"/>
          <p:nvPr/>
        </p:nvSpPr>
        <p:spPr>
          <a:xfrm>
            <a:off x="1097280" y="1435608"/>
            <a:ext cx="3291840" cy="201168"/>
          </a:xfrm>
          <a:prstGeom prst="rect">
            <a:avLst/>
          </a:prstGeom>
          <a:noFill/>
          <a:ln/>
        </p:spPr>
        <p:txBody>
          <a:bodyPr wrap="square" lIns="0" tIns="0" rIns="0" bIns="0" rtlCol="0" anchor="ctr"/>
          <a:lstStyle/>
          <a:p>
            <a:pPr indent="0" marL="0">
              <a:buNone/>
            </a:pPr>
            <a:r>
              <a:rPr lang="en-US" sz="1000" b="1" dirty="0">
                <a:solidFill>
                  <a:srgbClr val="A8A8BA"/>
                </a:solidFill>
                <a:latin typeface="Calibri" pitchFamily="34" charset="0"/>
                <a:ea typeface="Calibri" pitchFamily="34" charset="-122"/>
                <a:cs typeface="Calibri" pitchFamily="34" charset="-120"/>
              </a:rPr>
              <a:t>Certificate</a:t>
            </a:r>
            <a:endParaRPr lang="en-US" sz="1000" dirty="0"/>
          </a:p>
        </p:txBody>
      </p:sp>
      <p:sp>
        <p:nvSpPr>
          <p:cNvPr id="7" name="Text 4"/>
          <p:cNvSpPr txBox="1"/>
          <p:nvPr/>
        </p:nvSpPr>
        <p:spPr>
          <a:xfrm>
            <a:off x="1097280" y="1645920"/>
            <a:ext cx="338328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Certificate of Completion - Forage</a:t>
            </a:r>
            <a:endParaRPr lang="en-US" sz="1200" dirty="0"/>
          </a:p>
        </p:txBody>
      </p:sp>
      <p:sp>
        <p:nvSpPr>
          <p:cNvPr id="8" name="Shape 5"/>
          <p:cNvSpPr/>
          <p:nvPr/>
        </p:nvSpPr>
        <p:spPr>
          <a:xfrm>
            <a:off x="457200" y="2240280"/>
            <a:ext cx="457200" cy="457200"/>
          </a:xfrm>
          <a:prstGeom prst="ellipse">
            <a:avLst/>
          </a:prstGeom>
          <a:solidFill>
            <a:srgbClr val="22222C"/>
          </a:solidFill>
          <a:ln w="12700">
            <a:solidFill>
              <a:srgbClr val="22222C"/>
            </a:solidFill>
            <a:prstDash val="solid"/>
          </a:ln>
        </p:spPr>
      </p:sp>
      <p:pic>
        <p:nvPicPr>
          <p:cNvPr id="9" name="Image 1" descr="preencoded.png">    </p:cNvPr>
          <p:cNvPicPr>
            <a:picLocks noChangeAspect="1"/>
          </p:cNvPicPr>
          <p:nvPr/>
        </p:nvPicPr>
        <p:blipFill>
          <a:blip r:embed="rId2"/>
          <a:stretch>
            <a:fillRect/>
          </a:stretch>
        </p:blipFill>
        <p:spPr>
          <a:xfrm>
            <a:off x="571500" y="2354580"/>
            <a:ext cx="228600" cy="228600"/>
          </a:xfrm>
          <a:prstGeom prst="rect">
            <a:avLst/>
          </a:prstGeom>
        </p:spPr>
      </p:pic>
      <p:sp>
        <p:nvSpPr>
          <p:cNvPr id="10" name="Text 6"/>
          <p:cNvSpPr txBox="1"/>
          <p:nvPr/>
        </p:nvSpPr>
        <p:spPr>
          <a:xfrm>
            <a:off x="1097280" y="2212848"/>
            <a:ext cx="3291840" cy="201168"/>
          </a:xfrm>
          <a:prstGeom prst="rect">
            <a:avLst/>
          </a:prstGeom>
          <a:noFill/>
          <a:ln/>
        </p:spPr>
        <p:txBody>
          <a:bodyPr wrap="square" lIns="0" tIns="0" rIns="0" bIns="0" rtlCol="0" anchor="ctr"/>
          <a:lstStyle/>
          <a:p>
            <a:pPr indent="0" marL="0">
              <a:buNone/>
            </a:pPr>
            <a:r>
              <a:rPr lang="en-US" sz="1000" b="1" dirty="0">
                <a:solidFill>
                  <a:srgbClr val="A8A8BA"/>
                </a:solidFill>
                <a:latin typeface="Calibri" pitchFamily="34" charset="0"/>
                <a:ea typeface="Calibri" pitchFamily="34" charset="-122"/>
                <a:cs typeface="Calibri" pitchFamily="34" charset="-120"/>
              </a:rPr>
              <a:t>Date of Issue</a:t>
            </a:r>
            <a:endParaRPr lang="en-US" sz="1000" dirty="0"/>
          </a:p>
        </p:txBody>
      </p:sp>
      <p:sp>
        <p:nvSpPr>
          <p:cNvPr id="11" name="Text 7"/>
          <p:cNvSpPr txBox="1"/>
          <p:nvPr/>
        </p:nvSpPr>
        <p:spPr>
          <a:xfrm>
            <a:off x="1097280" y="2423160"/>
            <a:ext cx="338328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20 September 2026</a:t>
            </a:r>
            <a:endParaRPr lang="en-US" sz="1200" dirty="0"/>
          </a:p>
        </p:txBody>
      </p:sp>
      <p:sp>
        <p:nvSpPr>
          <p:cNvPr id="12" name="Shape 8"/>
          <p:cNvSpPr/>
          <p:nvPr/>
        </p:nvSpPr>
        <p:spPr>
          <a:xfrm>
            <a:off x="457200" y="3017520"/>
            <a:ext cx="457200" cy="457200"/>
          </a:xfrm>
          <a:prstGeom prst="ellipse">
            <a:avLst/>
          </a:prstGeom>
          <a:solidFill>
            <a:srgbClr val="22222C"/>
          </a:solidFill>
          <a:ln w="12700">
            <a:solidFill>
              <a:srgbClr val="22222C"/>
            </a:solidFill>
            <a:prstDash val="solid"/>
          </a:ln>
        </p:spPr>
      </p:sp>
      <p:pic>
        <p:nvPicPr>
          <p:cNvPr id="13" name="Image 2" descr="preencoded.png">    </p:cNvPr>
          <p:cNvPicPr>
            <a:picLocks noChangeAspect="1"/>
          </p:cNvPicPr>
          <p:nvPr/>
        </p:nvPicPr>
        <p:blipFill>
          <a:blip r:embed="rId3"/>
          <a:stretch>
            <a:fillRect/>
          </a:stretch>
        </p:blipFill>
        <p:spPr>
          <a:xfrm>
            <a:off x="571500" y="3131820"/>
            <a:ext cx="228600" cy="228600"/>
          </a:xfrm>
          <a:prstGeom prst="rect">
            <a:avLst/>
          </a:prstGeom>
        </p:spPr>
      </p:pic>
      <p:sp>
        <p:nvSpPr>
          <p:cNvPr id="14" name="Text 9"/>
          <p:cNvSpPr txBox="1"/>
          <p:nvPr/>
        </p:nvSpPr>
        <p:spPr>
          <a:xfrm>
            <a:off x="1097280" y="2990088"/>
            <a:ext cx="3291840" cy="201168"/>
          </a:xfrm>
          <a:prstGeom prst="rect">
            <a:avLst/>
          </a:prstGeom>
          <a:noFill/>
          <a:ln/>
        </p:spPr>
        <p:txBody>
          <a:bodyPr wrap="square" lIns="0" tIns="0" rIns="0" bIns="0" rtlCol="0" anchor="ctr"/>
          <a:lstStyle/>
          <a:p>
            <a:pPr indent="0" marL="0">
              <a:buNone/>
            </a:pPr>
            <a:r>
              <a:rPr lang="en-US" sz="1000" b="1" dirty="0">
                <a:solidFill>
                  <a:srgbClr val="A8A8BA"/>
                </a:solidFill>
                <a:latin typeface="Calibri" pitchFamily="34" charset="0"/>
                <a:ea typeface="Calibri" pitchFamily="34" charset="-122"/>
                <a:cs typeface="Calibri" pitchFamily="34" charset="-120"/>
              </a:rPr>
              <a:t>Enrolment Verification Code</a:t>
            </a:r>
            <a:endParaRPr lang="en-US" sz="1000" dirty="0"/>
          </a:p>
        </p:txBody>
      </p:sp>
      <p:sp>
        <p:nvSpPr>
          <p:cNvPr id="15" name="Text 10"/>
          <p:cNvSpPr txBox="1"/>
          <p:nvPr/>
        </p:nvSpPr>
        <p:spPr>
          <a:xfrm>
            <a:off x="1097280" y="3200400"/>
            <a:ext cx="338328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6aafacea8b93e7892af1b8d8</a:t>
            </a:r>
            <a:endParaRPr lang="en-US" sz="1200" dirty="0"/>
          </a:p>
        </p:txBody>
      </p:sp>
      <p:sp>
        <p:nvSpPr>
          <p:cNvPr id="16" name="Shape 11"/>
          <p:cNvSpPr/>
          <p:nvPr/>
        </p:nvSpPr>
        <p:spPr>
          <a:xfrm>
            <a:off x="457200" y="3794760"/>
            <a:ext cx="457200" cy="457200"/>
          </a:xfrm>
          <a:prstGeom prst="ellipse">
            <a:avLst/>
          </a:prstGeom>
          <a:solidFill>
            <a:srgbClr val="22222C"/>
          </a:solidFill>
          <a:ln w="12700">
            <a:solidFill>
              <a:srgbClr val="22222C"/>
            </a:solidFill>
            <a:prstDash val="solid"/>
          </a:ln>
        </p:spPr>
      </p:sp>
      <p:pic>
        <p:nvPicPr>
          <p:cNvPr id="17" name="Image 3" descr="preencoded.png">    </p:cNvPr>
          <p:cNvPicPr>
            <a:picLocks noChangeAspect="1"/>
          </p:cNvPicPr>
          <p:nvPr/>
        </p:nvPicPr>
        <p:blipFill>
          <a:blip r:embed="rId4"/>
          <a:stretch>
            <a:fillRect/>
          </a:stretch>
        </p:blipFill>
        <p:spPr>
          <a:xfrm>
            <a:off x="571500" y="3909060"/>
            <a:ext cx="228600" cy="228600"/>
          </a:xfrm>
          <a:prstGeom prst="rect">
            <a:avLst/>
          </a:prstGeom>
        </p:spPr>
      </p:pic>
      <p:sp>
        <p:nvSpPr>
          <p:cNvPr id="18" name="Text 12"/>
          <p:cNvSpPr txBox="1"/>
          <p:nvPr/>
        </p:nvSpPr>
        <p:spPr>
          <a:xfrm>
            <a:off x="1097280" y="3767328"/>
            <a:ext cx="3291840" cy="201168"/>
          </a:xfrm>
          <a:prstGeom prst="rect">
            <a:avLst/>
          </a:prstGeom>
          <a:noFill/>
          <a:ln/>
        </p:spPr>
        <p:txBody>
          <a:bodyPr wrap="square" lIns="0" tIns="0" rIns="0" bIns="0" rtlCol="0" anchor="ctr"/>
          <a:lstStyle/>
          <a:p>
            <a:pPr indent="0" marL="0">
              <a:buNone/>
            </a:pPr>
            <a:r>
              <a:rPr lang="en-US" sz="1000" b="1" dirty="0">
                <a:solidFill>
                  <a:srgbClr val="A8A8BA"/>
                </a:solidFill>
                <a:latin typeface="Calibri" pitchFamily="34" charset="0"/>
                <a:ea typeface="Calibri" pitchFamily="34" charset="-122"/>
                <a:cs typeface="Calibri" pitchFamily="34" charset="-120"/>
              </a:rPr>
              <a:t>User Verification Code</a:t>
            </a:r>
            <a:endParaRPr lang="en-US" sz="1000" dirty="0"/>
          </a:p>
        </p:txBody>
      </p:sp>
      <p:sp>
        <p:nvSpPr>
          <p:cNvPr id="19" name="Text 13"/>
          <p:cNvSpPr txBox="1"/>
          <p:nvPr/>
        </p:nvSpPr>
        <p:spPr>
          <a:xfrm>
            <a:off x="1097280" y="3977640"/>
            <a:ext cx="338328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68d273943531e46c2427a4ac</a:t>
            </a:r>
            <a:endParaRPr lang="en-US" sz="1200" dirty="0"/>
          </a:p>
        </p:txBody>
      </p:sp>
      <p:sp>
        <p:nvSpPr>
          <p:cNvPr id="20" name="Shape 14"/>
          <p:cNvSpPr/>
          <p:nvPr/>
        </p:nvSpPr>
        <p:spPr>
          <a:xfrm>
            <a:off x="4754880" y="1371600"/>
            <a:ext cx="3931920" cy="2926080"/>
          </a:xfrm>
          <a:prstGeom prst="roundRect">
            <a:avLst>
              <a:gd name="adj" fmla="val 1875"/>
            </a:avLst>
          </a:prstGeom>
          <a:solidFill>
            <a:srgbClr val="FFFFFF"/>
          </a:solidFill>
          <a:ln w="12700">
            <a:solidFill>
              <a:srgbClr val="FFFFFF"/>
            </a:solidFill>
            <a:prstDash val="solid"/>
          </a:ln>
        </p:spPr>
      </p:sp>
      <p:pic>
        <p:nvPicPr>
          <p:cNvPr id="21" name="Image 4" descr="preencoded.png">    </p:cNvPr>
          <p:cNvPicPr>
            <a:picLocks noChangeAspect="1"/>
          </p:cNvPicPr>
          <p:nvPr/>
        </p:nvPicPr>
        <p:blipFill>
          <a:blip r:embed="rId5"/>
          <a:stretch>
            <a:fillRect/>
          </a:stretch>
        </p:blipFill>
        <p:spPr>
          <a:xfrm>
            <a:off x="4846320" y="1463040"/>
            <a:ext cx="3749040" cy="2649716"/>
          </a:xfrm>
          <a:prstGeom prst="rect">
            <a:avLst/>
          </a:prstGeom>
        </p:spPr>
      </p:pic>
      <p:sp>
        <p:nvSpPr>
          <p:cNvPr id="22" name="Text 15"/>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9A9AAA"/>
                </a:solidFill>
                <a:latin typeface="Calibri" pitchFamily="34" charset="0"/>
                <a:ea typeface="Calibri" pitchFamily="34" charset="-122"/>
                <a:cs typeface="Calibri" pitchFamily="34" charset="-120"/>
              </a:rPr>
              <a:t>Cybersecurity Job Simulation  |  Aditya Sharma</a:t>
            </a:r>
            <a:endParaRPr lang="en-US" sz="900" dirty="0"/>
          </a:p>
        </p:txBody>
      </p:sp>
      <p:sp>
        <p:nvSpPr>
          <p:cNvPr id="23" name="Text 16"/>
          <p:cNvSpPr txBox="1"/>
          <p:nvPr/>
        </p:nvSpPr>
        <p:spPr>
          <a:xfrm>
            <a:off x="8138160" y="4754880"/>
            <a:ext cx="548640" cy="228600"/>
          </a:xfrm>
          <a:prstGeom prst="rect">
            <a:avLst/>
          </a:prstGeom>
          <a:noFill/>
          <a:ln/>
        </p:spPr>
        <p:txBody>
          <a:bodyPr wrap="square" lIns="0" tIns="0" rIns="0" bIns="0" rtlCol="0" anchor="ctr"/>
          <a:lstStyle/>
          <a:p>
            <a:pPr algn="r" indent="0" marL="0">
              <a:buNone/>
            </a:pPr>
            <a:r>
              <a:rPr lang="en-US" sz="900" dirty="0">
                <a:solidFill>
                  <a:srgbClr val="9A9AA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1737360" y="3383280"/>
            <a:ext cx="2743200" cy="2743200"/>
          </a:xfrm>
          <a:prstGeom prst="ellipse">
            <a:avLst/>
          </a:prstGeom>
          <a:solidFill>
            <a:srgbClr val="EB001B"/>
          </a:solidFill>
          <a:ln w="12700">
            <a:solidFill>
              <a:srgbClr val="EB001B"/>
            </a:solidFill>
            <a:prstDash val="solid"/>
          </a:ln>
        </p:spPr>
      </p:sp>
      <p:sp>
        <p:nvSpPr>
          <p:cNvPr id="3" name="Shape 1"/>
          <p:cNvSpPr/>
          <p:nvPr/>
        </p:nvSpPr>
        <p:spPr>
          <a:xfrm>
            <a:off x="-274320" y="4023360"/>
            <a:ext cx="1828800" cy="1828800"/>
          </a:xfrm>
          <a:prstGeom prst="ellipse">
            <a:avLst/>
          </a:prstGeom>
          <a:solidFill>
            <a:srgbClr val="F79E1B">
              <a:alpha val="85000"/>
            </a:srgbClr>
          </a:solidFill>
          <a:ln w="12700">
            <a:solidFill>
              <a:srgbClr val="F79E1B"/>
            </a:solidFill>
            <a:prstDash val="solid"/>
          </a:ln>
        </p:spPr>
      </p:sp>
      <p:sp>
        <p:nvSpPr>
          <p:cNvPr id="4" name="Shape 2"/>
          <p:cNvSpPr/>
          <p:nvPr/>
        </p:nvSpPr>
        <p:spPr>
          <a:xfrm>
            <a:off x="4206240" y="640080"/>
            <a:ext cx="731520" cy="786384"/>
          </a:xfrm>
          <a:prstGeom prst="roundRect">
            <a:avLst>
              <a:gd name="adj" fmla="val 7500"/>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4261104" y="694944"/>
            <a:ext cx="621792" cy="662824"/>
          </a:xfrm>
          <a:prstGeom prst="rect">
            <a:avLst/>
          </a:prstGeom>
        </p:spPr>
      </p:pic>
      <p:sp>
        <p:nvSpPr>
          <p:cNvPr id="6" name="Text 3"/>
          <p:cNvSpPr txBox="1"/>
          <p:nvPr/>
        </p:nvSpPr>
        <p:spPr>
          <a:xfrm>
            <a:off x="457200" y="1737360"/>
            <a:ext cx="822960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7" name="Text 4"/>
          <p:cNvSpPr txBox="1"/>
          <p:nvPr/>
        </p:nvSpPr>
        <p:spPr>
          <a:xfrm>
            <a:off x="457200" y="2606040"/>
            <a:ext cx="8229600" cy="365760"/>
          </a:xfrm>
          <a:prstGeom prst="rect">
            <a:avLst/>
          </a:prstGeom>
          <a:noFill/>
          <a:ln/>
        </p:spPr>
        <p:txBody>
          <a:bodyPr wrap="square" lIns="0" tIns="0" rIns="0" bIns="0" rtlCol="0" anchor="ctr"/>
          <a:lstStyle/>
          <a:p>
            <a:pPr algn="ctr" indent="0" marL="0">
              <a:buNone/>
            </a:pPr>
            <a:r>
              <a:rPr lang="en-US" sz="1500" dirty="0">
                <a:solidFill>
                  <a:srgbClr val="D0D0DC"/>
                </a:solidFill>
                <a:latin typeface="Calibri" pitchFamily="34" charset="0"/>
                <a:ea typeface="Calibri" pitchFamily="34" charset="-122"/>
                <a:cs typeface="Calibri" pitchFamily="34" charset="-120"/>
              </a:rPr>
              <a:t>Mastercard Cybersecurity Job Simulation  |  Forage</a:t>
            </a:r>
            <a:endParaRPr lang="en-US" sz="1500" dirty="0"/>
          </a:p>
        </p:txBody>
      </p:sp>
      <p:sp>
        <p:nvSpPr>
          <p:cNvPr id="8" name="Text 5"/>
          <p:cNvSpPr txBox="1"/>
          <p:nvPr/>
        </p:nvSpPr>
        <p:spPr>
          <a:xfrm>
            <a:off x="457200" y="3246120"/>
            <a:ext cx="822960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Aditya Sharma</a:t>
            </a:r>
            <a:endParaRPr lang="en-US" sz="1600" dirty="0"/>
          </a:p>
        </p:txBody>
      </p:sp>
      <p:sp>
        <p:nvSpPr>
          <p:cNvPr id="9" name="Text 6"/>
          <p:cNvSpPr txBox="1"/>
          <p:nvPr/>
        </p:nvSpPr>
        <p:spPr>
          <a:xfrm>
            <a:off x="457200" y="3566160"/>
            <a:ext cx="8229600" cy="274320"/>
          </a:xfrm>
          <a:prstGeom prst="rect">
            <a:avLst/>
          </a:prstGeom>
          <a:noFill/>
          <a:ln/>
        </p:spPr>
        <p:txBody>
          <a:bodyPr wrap="square" lIns="0" tIns="0" rIns="0" bIns="0" rtlCol="0" anchor="ctr"/>
          <a:lstStyle/>
          <a:p>
            <a:pPr algn="ctr" indent="0" marL="0">
              <a:buNone/>
            </a:pPr>
            <a:r>
              <a:rPr lang="en-US" sz="1200" dirty="0">
                <a:solidFill>
                  <a:srgbClr val="B8B8C8"/>
                </a:solidFill>
                <a:latin typeface="Calibri" pitchFamily="34" charset="0"/>
                <a:ea typeface="Calibri" pitchFamily="34" charset="-122"/>
                <a:cs typeface="Calibri" pitchFamily="34" charset="-120"/>
              </a:rPr>
              <a:t>Roll No. 2410030343  |  IILM University, Greater Noida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Job Simulation - Aditya Sharma</dc:title>
  <dc:subject>PptxGenJS Presentation</dc:subject>
  <dc:creator>Aditya Sharma</dc:creator>
  <cp:lastModifiedBy>Aditya Sharma</cp:lastModifiedBy>
  <cp:revision>1</cp:revision>
  <dcterms:created xsi:type="dcterms:W3CDTF">2026-09-20T12:06:18Z</dcterms:created>
  <dcterms:modified xsi:type="dcterms:W3CDTF">2026-09-20T12:06:18Z</dcterms:modified>
</cp:coreProperties>
</file>